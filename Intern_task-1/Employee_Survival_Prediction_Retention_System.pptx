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f51ba2be-3d44-8711-efc3-fff8186d03d2}">
          <p14:sldIdLst>
            <p14:sldId id="256"/>
          </p14:sldIdLst>
        </p14:section>
        <p14:section name="Recap" id="{78c89bb9-020a-e271-8b51-cc02ce3f2edd}">
          <p14:sldIdLst>
            <p14:sldId id="257"/>
          </p14:sldIdLst>
        </p14:section>
        <p14:section name="Architecture" id="{4e41ea2f-0d1d-157e-01d4-acc7aa682ec9}">
          <p14:sldIdLst>
            <p14:sldId id="258"/>
          </p14:sldIdLst>
        </p14:section>
        <p14:section name="Platform" id="{c1a24eaa-274e-ff72-dc65-713d65a565a8}">
          <p14:sldIdLst>
            <p14:sldId id="259"/>
          </p14:sldIdLst>
        </p14:section>
        <p14:section name="Modeling" id="{28d3e72a-32cb-da1d-b293-1b1010458359}">
          <p14:sldIdLst>
            <p14:sldId id="260"/>
            <p14:sldId id="261"/>
            <p14:sldId id="262"/>
          </p14:sldIdLst>
        </p14:section>
        <p14:section name="Insight &amp; Action" id="{e6564d08-3f7a-acde-4560-171f515e8724}">
          <p14:sldIdLst>
            <p14:sldId id="263"/>
            <p14:sldId id="264"/>
            <p14:sldId id="265"/>
          </p14:sldIdLst>
        </p14:section>
        <p14:section name="Conclusion" id="{4cd9ee6b-f817-b224-4387-d5fca9a3ef57}">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and thank you for the time. This presentation walks through the implementation of our Employee Survival Prediction and Retention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short recap of where the project stands after the two earlier reviews. From here, the deck focuses only on what we implemented and the results from the live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how the six stages of the implementation connect, from data ingestion to the action card. The feedback agent sends observed outcomes back to the strategist, which closes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packaged every stage of the pipeline into one web platform so results can be explored live. The platform opens with pre-trained, calibrated models, and the pipeline can also be retrained on demand.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Cox model gives interpretable hazard ratios and a stable baseline. We verified its assumptions and reported both discrimination and calibration.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forest captures non-linear interactions that Cox cannot. The ensemble weights each model by how much its concordance exceeds chance, so no manual tuning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models were compared on the same held-out split. Thresholds were calibrated per model, so the binary baseline and the survival models are compared fairly.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Probabilities alone do not tell HR where to spend effort. The financial module ranks employees by both flight risk and what losing them would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TreeSHAP explains which factors push each employee's risk up or down. The narrative layer turns those values into a short diagnosis a manager can act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Agents one to five take an employee from observation to a tailored action card. The feedback agent closes the loop, so each observed outcome improves future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summary, we turned the survival-analysis design into a working, deployed system that goes all the way to an actionable recommendation. The feedback loop means the retention policy keeps improving as outcomes come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280160"/>
            <a:ext cx="9601200" cy="21945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972800" cy="73152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972800" cy="73152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9B8C9"/>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280160"/>
            <a:ext cx="9601200" cy="2194560"/>
          </a:xfrm>
          <a:prstGeom prst="rect">
            <a:avLst/>
          </a:prstGeom>
          <a:noFill/>
          <a:ln/>
        </p:spPr>
        <p:txBody>
          <a:bodyPr wrap="square" lIns="0" tIns="0" rIns="0" bIns="0" rtlCol="0" anchor="t"/>
          <a:lstStyle/>
          <a:p>
            <a:pPr algn="l" indent="0" marL="0">
              <a:buNone/>
            </a:pPr>
            <a:r>
              <a:rPr lang="en-US" sz="4000" b="1" dirty="0">
                <a:solidFill>
                  <a:schemeClr val="bg1"/>
                </a:solidFill>
              </a:rPr>
              <a:t>EMPLOYEE SURVIVAL PREDICTION AND RETENTION SYSTEM</a:t>
            </a:r>
            <a:endParaRPr lang="en-US" sz="4000" dirty="0"/>
          </a:p>
        </p:txBody>
      </p:sp>
      <p:sp>
        <p:nvSpPr>
          <p:cNvPr id="3" name="Members label"/>
          <p:cNvSpPr txBox="1"/>
          <p:nvPr/>
        </p:nvSpPr>
        <p:spPr>
          <a:xfrm>
            <a:off x="731520" y="4114800"/>
            <a:ext cx="5486400" cy="320040"/>
          </a:xfrm>
          <a:prstGeom prst="rect">
            <a:avLst/>
          </a:prstGeom>
          <a:noFill/>
          <a:ln/>
        </p:spPr>
        <p:txBody>
          <a:bodyPr wrap="square" lIns="0" tIns="0" rIns="0" bIns="0" rtlCol="0" anchor="ctr"/>
          <a:lstStyle/>
          <a:p>
            <a:pPr indent="0" marL="0">
              <a:buNone/>
            </a:pPr>
            <a:r>
              <a:rPr lang="en-US" sz="1300" b="1" spc="300" kern="0" dirty="0">
                <a:solidFill>
                  <a:schemeClr val="accent3"/>
                </a:solidFill>
              </a:rPr>
              <a:t>TEAM MEMBERS</a:t>
            </a:r>
            <a:endParaRPr lang="en-US" sz="1300" dirty="0"/>
          </a:p>
        </p:txBody>
      </p:sp>
      <p:sp>
        <p:nvSpPr>
          <p:cNvPr id="4" name="Members"/>
          <p:cNvSpPr txBox="1"/>
          <p:nvPr/>
        </p:nvSpPr>
        <p:spPr>
          <a:xfrm>
            <a:off x="731520" y="4526280"/>
            <a:ext cx="7315200" cy="1463040"/>
          </a:xfrm>
          <a:prstGeom prst="rect">
            <a:avLst/>
          </a:prstGeom>
          <a:noFill/>
          <a:ln/>
        </p:spPr>
        <p:txBody>
          <a:bodyPr wrap="square" lIns="0" tIns="0" rIns="0" bIns="0" rtlCol="0" anchor="t"/>
          <a:lstStyle/>
          <a:p>
            <a:pPr indent="0" marL="0">
              <a:spcAft>
                <a:spcPts val="600"/>
              </a:spcAft>
              <a:buNone/>
            </a:pPr>
            <a:r>
              <a:rPr lang="en-US" sz="2200" dirty="0">
                <a:solidFill>
                  <a:schemeClr val="bg1"/>
                </a:solidFill>
              </a:rPr>
              <a:t>Adhi</a:t>
            </a:r>
            <a:endParaRPr lang="en-US" sz="2200" dirty="0"/>
          </a:p>
          <a:p>
            <a:pPr indent="0" marL="0">
              <a:spcAft>
                <a:spcPts val="600"/>
              </a:spcAft>
              <a:buNone/>
            </a:pPr>
            <a:r>
              <a:rPr lang="en-US" sz="2200" dirty="0">
                <a:solidFill>
                  <a:schemeClr val="bg1"/>
                </a:solidFill>
              </a:rPr>
              <a:t>[Member 2 name]</a:t>
            </a:r>
            <a:endParaRPr lang="en-US" sz="2200" dirty="0"/>
          </a:p>
          <a:p>
            <a:pPr indent="0" marL="0">
              <a:buNone/>
            </a:pPr>
            <a:r>
              <a:rPr lang="en-US" sz="2200" dirty="0">
                <a:solidFill>
                  <a:schemeClr val="bg1"/>
                </a:solidFill>
              </a:rPr>
              <a:t>[Member 3 name]</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972800" cy="731520"/>
          </a:xfrm>
          <a:prstGeom prst="rect">
            <a:avLst/>
          </a:prstGeom>
          <a:noFill/>
          <a:ln/>
        </p:spPr>
        <p:txBody>
          <a:bodyPr wrap="square" lIns="0" tIns="0" rIns="0" bIns="0" rtlCol="0" anchor="ctr"/>
          <a:lstStyle/>
          <a:p>
            <a:pPr algn="l" indent="0" marL="0">
              <a:buNone/>
            </a:pPr>
            <a:r>
              <a:rPr lang="en-US" sz="3000" b="1" dirty="0">
                <a:solidFill>
                  <a:schemeClr val="tx2"/>
                </a:solidFill>
              </a:rPr>
              <a:t>Project Recap</a:t>
            </a:r>
            <a:endParaRPr lang="en-US" sz="3000" dirty="0"/>
          </a:p>
        </p:txBody>
      </p:sp>
      <p:sp>
        <p:nvSpPr>
          <p:cNvPr id="3" name="Subtitle"/>
          <p:cNvSpPr txBox="1"/>
          <p:nvPr/>
        </p:nvSpPr>
        <p:spPr>
          <a:xfrm>
            <a:off x="640080" y="1234440"/>
            <a:ext cx="10058400" cy="411480"/>
          </a:xfrm>
          <a:prstGeom prst="rect">
            <a:avLst/>
          </a:prstGeom>
          <a:noFill/>
          <a:ln/>
        </p:spPr>
        <p:txBody>
          <a:bodyPr wrap="square" lIns="0" tIns="0" rIns="0" bIns="0" rtlCol="0" anchor="ctr"/>
          <a:lstStyle/>
          <a:p>
            <a:pPr indent="0" marL="0">
              <a:buNone/>
            </a:pPr>
            <a:r>
              <a:rPr lang="en-US" sz="1800" i="1" dirty="0">
                <a:solidFill>
                  <a:schemeClr val="accent2"/>
                </a:solidFill>
              </a:rPr>
              <a:t>Where we stand after two panel reviews</a:t>
            </a:r>
            <a:endParaRPr lang="en-US" sz="1800" dirty="0"/>
          </a:p>
        </p:txBody>
      </p:sp>
      <p:sp>
        <p:nvSpPr>
          <p:cNvPr id="4" name="Recap bullets"/>
          <p:cNvSpPr txBox="1"/>
          <p:nvPr/>
        </p:nvSpPr>
        <p:spPr>
          <a:xfrm>
            <a:off x="640080" y="2011680"/>
            <a:ext cx="10789920" cy="4114800"/>
          </a:xfrm>
          <a:prstGeom prst="rect">
            <a:avLst/>
          </a:prstGeom>
          <a:noFill/>
          <a:ln/>
        </p:spPr>
        <p:txBody>
          <a:bodyPr wrap="square" lIns="0" tIns="0" rIns="0" bIns="0" rtlCol="0" anchor="t"/>
          <a:lstStyle/>
          <a:p>
            <a:pPr marL="254000" indent="-254000">
              <a:spcAft>
                <a:spcPts val="1200"/>
              </a:spcAft>
              <a:buSzPct val="100000"/>
              <a:buChar char="•"/>
            </a:pPr>
            <a:r>
              <a:rPr lang="en-US" sz="2200" dirty="0">
                <a:solidFill>
                  <a:schemeClr val="tx1"/>
                </a:solidFill>
              </a:rPr>
              <a:t>Goal: predict when employees will leave, not just whether they will</a:t>
            </a:r>
            <a:endParaRPr lang="en-US" sz="2200" dirty="0"/>
          </a:p>
          <a:p>
            <a:pPr marL="254000" indent="-254000">
              <a:spcAft>
                <a:spcPts val="1200"/>
              </a:spcAft>
              <a:buSzPct val="100000"/>
              <a:buChar char="•"/>
            </a:pPr>
            <a:r>
              <a:rPr lang="en-US" sz="2200" dirty="0">
                <a:solidFill>
                  <a:schemeClr val="tx1"/>
                </a:solidFill>
              </a:rPr>
              <a:t>Gap addressed: static churn classifiers ignore tenure and right-censoring</a:t>
            </a:r>
            <a:endParaRPr lang="en-US" sz="2200" dirty="0"/>
          </a:p>
          <a:p>
            <a:pPr marL="254000" indent="-254000">
              <a:spcAft>
                <a:spcPts val="1200"/>
              </a:spcAft>
              <a:buSzPct val="100000"/>
              <a:buChar char="•"/>
            </a:pPr>
            <a:r>
              <a:rPr lang="en-US" sz="2200" dirty="0">
                <a:solidFill>
                  <a:schemeClr val="tx1"/>
                </a:solidFill>
              </a:rPr>
              <a:t>Reviewed in panels 1 and 2: problem statement, dataset and preprocessing</a:t>
            </a:r>
            <a:endParaRPr lang="en-US" sz="2200" dirty="0"/>
          </a:p>
          <a:p>
            <a:pPr marL="254000" indent="-254000">
              <a:spcAft>
                <a:spcPts val="1200"/>
              </a:spcAft>
              <a:buSzPct val="100000"/>
              <a:buChar char="•"/>
            </a:pPr>
            <a:r>
              <a:rPr lang="en-US" sz="2200" dirty="0">
                <a:solidFill>
                  <a:schemeClr val="tx1"/>
                </a:solidFill>
              </a:rPr>
              <a:t>Since then: implemented Cox + RSF ensemble, financial triage, explainability and retention agents</a:t>
            </a:r>
            <a:endParaRPr lang="en-US" sz="2200" dirty="0"/>
          </a:p>
          <a:p>
            <a:pPr marL="254000" indent="-254000">
              <a:spcAft>
                <a:spcPts val="1200"/>
              </a:spcAft>
              <a:buSzPct val="100000"/>
              <a:buChar char="•"/>
            </a:pPr>
            <a:r>
              <a:rPr lang="en-US" sz="2200" dirty="0">
                <a:solidFill>
                  <a:schemeClr val="tx1"/>
                </a:solidFill>
              </a:rPr>
              <a:t>Everything runs inside one deployed web platform, NEXUS AI</a:t>
            </a:r>
            <a:endParaRPr lang="en-US" sz="2200" dirty="0"/>
          </a:p>
          <a:p>
            <a:pPr marL="254000" indent="-254000">
              <a:spcAft>
                <a:spcPts val="1200"/>
              </a:spcAft>
              <a:buSzPct val="100000"/>
              <a:buChar char="•"/>
            </a:pPr>
            <a:r>
              <a:rPr lang="en-US" sz="2200" dirty="0">
                <a:solidFill>
                  <a:schemeClr val="tx1"/>
                </a:solidFill>
              </a:rPr>
              <a:t>Today: a walkthrough of the implementation and its live results</a:t>
            </a:r>
            <a:endParaRPr lang="en-US" sz="22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972800" cy="731520"/>
          </a:xfrm>
          <a:prstGeom prst="rect">
            <a:avLst/>
          </a:prstGeom>
          <a:noFill/>
          <a:ln/>
        </p:spPr>
        <p:txBody>
          <a:bodyPr wrap="square" lIns="0" tIns="0" rIns="0" bIns="0" rtlCol="0" anchor="ctr"/>
          <a:lstStyle/>
          <a:p>
            <a:pPr algn="l" indent="0" marL="0">
              <a:buNone/>
            </a:pPr>
            <a:r>
              <a:rPr lang="en-US" sz="3000" b="1" dirty="0">
                <a:solidFill>
                  <a:schemeClr val="tx2"/>
                </a:solidFill>
              </a:rPr>
              <a:t>Implementation Workflow Architecture</a:t>
            </a:r>
            <a:endParaRPr lang="en-US" sz="3000" dirty="0"/>
          </a:p>
        </p:txBody>
      </p:sp>
      <p:sp>
        <p:nvSpPr>
          <p:cNvPr id="3" name="Subtitle"/>
          <p:cNvSpPr txBox="1"/>
          <p:nvPr/>
        </p:nvSpPr>
        <p:spPr>
          <a:xfrm>
            <a:off x="640080" y="1234440"/>
            <a:ext cx="10058400" cy="411480"/>
          </a:xfrm>
          <a:prstGeom prst="rect">
            <a:avLst/>
          </a:prstGeom>
          <a:noFill/>
          <a:ln/>
        </p:spPr>
        <p:txBody>
          <a:bodyPr wrap="square" lIns="0" tIns="0" rIns="0" bIns="0" rtlCol="0" anchor="ctr"/>
          <a:lstStyle/>
          <a:p>
            <a:pPr indent="0" marL="0">
              <a:buNone/>
            </a:pPr>
            <a:r>
              <a:rPr lang="en-US" sz="1800" i="1" dirty="0">
                <a:solidFill>
                  <a:schemeClr val="accent2"/>
                </a:solidFill>
              </a:rPr>
              <a:t>NEXUS AI end-to-end pipeline, from data to action</a:t>
            </a:r>
            <a:endParaRPr lang="en-US" sz="1800" dirty="0"/>
          </a:p>
        </p:txBody>
      </p:sp>
      <p:sp>
        <p:nvSpPr>
          <p:cNvPr id="4" name="Stage 01"/>
          <p:cNvSpPr/>
          <p:nvPr/>
        </p:nvSpPr>
        <p:spPr>
          <a:xfrm>
            <a:off x="612648" y="2011680"/>
            <a:ext cx="1561795" cy="2651760"/>
          </a:xfrm>
          <a:prstGeom prst="roundRect">
            <a:avLst>
              <a:gd name="adj" fmla="val 7026"/>
            </a:avLst>
          </a:prstGeom>
          <a:solidFill>
            <a:schemeClr val="accent4"/>
          </a:solidFill>
          <a:ln w="12700">
            <a:solidFill>
              <a:schemeClr val="accent3"/>
            </a:solidFill>
          </a:ln>
        </p:spPr>
        <p:txBody>
          <a:bodyPr wrap="square" lIns="127000" tIns="114300" rIns="114300" bIns="101600" rtlCol="0" anchor="t"/>
          <a:lstStyle/>
          <a:p>
            <a:pPr algn="l" indent="0" marL="0">
              <a:spcAft>
                <a:spcPts val="400"/>
              </a:spcAft>
              <a:buNone/>
            </a:pPr>
            <a:r>
              <a:rPr lang="en-US" sz="1300" b="1" dirty="0">
                <a:solidFill>
                  <a:schemeClr val="accent6"/>
                </a:solidFill>
              </a:rPr>
              <a:t>01</a:t>
            </a:r>
            <a:endParaRPr lang="en-US" sz="1300" dirty="0"/>
          </a:p>
          <a:p>
            <a:pPr algn="l" indent="0" marL="0">
              <a:spcAft>
                <a:spcPts val="400"/>
              </a:spcAft>
              <a:buNone/>
            </a:pPr>
            <a:r>
              <a:rPr lang="en-US" sz="1500" b="1" dirty="0">
                <a:solidFill>
                  <a:schemeClr val="tx2"/>
                </a:solidFill>
              </a:rPr>
              <a:t>Data Ingestion &amp; Validation</a:t>
            </a:r>
            <a:endParaRPr lang="en-US" sz="1300" dirty="0"/>
          </a:p>
          <a:p>
            <a:pPr algn="l" indent="0" marL="0">
              <a:spcAft>
                <a:spcPts val="800"/>
              </a:spcAft>
              <a:buNone/>
            </a:pPr>
            <a:r>
              <a:rPr lang="en-US" sz="1200" i="1" dirty="0">
                <a:solidFill>
                  <a:schemeClr val="accent2"/>
                </a:solidFill>
              </a:rPr>
              <a:t>Observer Agent</a:t>
            </a:r>
            <a:endParaRPr lang="en-US" sz="1300" dirty="0"/>
          </a:p>
          <a:p>
            <a:pPr algn="l" indent="0" marL="0">
              <a:buNone/>
            </a:pPr>
            <a:r>
              <a:rPr lang="en-US" sz="1300" dirty="0">
                <a:solidFill>
                  <a:schemeClr val="tx1"/>
                </a:solidFill>
              </a:rPr>
              <a:t>Dataset selection or upload, schema validation</a:t>
            </a:r>
            <a:endParaRPr lang="en-US" sz="1300" dirty="0"/>
          </a:p>
        </p:txBody>
      </p:sp>
      <p:sp>
        <p:nvSpPr>
          <p:cNvPr id="5" name="Arrow 1"/>
          <p:cNvSpPr/>
          <p:nvPr/>
        </p:nvSpPr>
        <p:spPr>
          <a:xfrm>
            <a:off x="2211019" y="3337560"/>
            <a:ext cx="246888" cy="0"/>
          </a:xfrm>
          <a:prstGeom prst="line">
            <a:avLst/>
          </a:prstGeom>
          <a:noFill/>
          <a:ln w="25400">
            <a:solidFill>
              <a:schemeClr val="accent1"/>
            </a:solidFill>
            <a:prstDash val="solid"/>
            <a:tailEnd type="triangle"/>
          </a:ln>
        </p:spPr>
      </p:sp>
      <p:sp>
        <p:nvSpPr>
          <p:cNvPr id="6" name="Stage 02"/>
          <p:cNvSpPr/>
          <p:nvPr/>
        </p:nvSpPr>
        <p:spPr>
          <a:xfrm>
            <a:off x="2494483" y="2011680"/>
            <a:ext cx="1561795" cy="2651760"/>
          </a:xfrm>
          <a:prstGeom prst="roundRect">
            <a:avLst>
              <a:gd name="adj" fmla="val 7026"/>
            </a:avLst>
          </a:prstGeom>
          <a:solidFill>
            <a:schemeClr val="accent4"/>
          </a:solidFill>
          <a:ln w="12700">
            <a:solidFill>
              <a:schemeClr val="accent3"/>
            </a:solidFill>
          </a:ln>
        </p:spPr>
        <p:txBody>
          <a:bodyPr wrap="square" lIns="127000" tIns="114300" rIns="114300" bIns="101600" rtlCol="0" anchor="t"/>
          <a:lstStyle/>
          <a:p>
            <a:pPr algn="l" indent="0" marL="0">
              <a:spcAft>
                <a:spcPts val="400"/>
              </a:spcAft>
              <a:buNone/>
            </a:pPr>
            <a:r>
              <a:rPr lang="en-US" sz="1300" b="1" dirty="0">
                <a:solidFill>
                  <a:schemeClr val="accent6"/>
                </a:solidFill>
              </a:rPr>
              <a:t>02</a:t>
            </a:r>
            <a:endParaRPr lang="en-US" sz="1300" dirty="0"/>
          </a:p>
          <a:p>
            <a:pPr algn="l" indent="0" marL="0">
              <a:spcAft>
                <a:spcPts val="400"/>
              </a:spcAft>
              <a:buNone/>
            </a:pPr>
            <a:r>
              <a:rPr lang="en-US" sz="1500" b="1" dirty="0">
                <a:solidFill>
                  <a:schemeClr val="tx2"/>
                </a:solidFill>
              </a:rPr>
              <a:t>Survival Engine</a:t>
            </a:r>
            <a:endParaRPr lang="en-US" sz="1300" dirty="0"/>
          </a:p>
          <a:p>
            <a:pPr algn="l" indent="0" marL="0">
              <a:spcAft>
                <a:spcPts val="800"/>
              </a:spcAft>
              <a:buNone/>
            </a:pPr>
            <a:r>
              <a:rPr lang="en-US" sz="1200" i="1" dirty="0">
                <a:solidFill>
                  <a:schemeClr val="accent2"/>
                </a:solidFill>
              </a:rPr>
              <a:t>Cox PH + Random Survival Forest</a:t>
            </a:r>
            <a:endParaRPr lang="en-US" sz="1300" dirty="0"/>
          </a:p>
          <a:p>
            <a:pPr algn="l" indent="0" marL="0">
              <a:buNone/>
            </a:pPr>
            <a:r>
              <a:rPr lang="en-US" sz="1300" dirty="0">
                <a:solidFill>
                  <a:schemeClr val="tx1"/>
                </a:solidFill>
              </a:rPr>
              <a:t>Weighted ensemble gives 30/60/90-day risk</a:t>
            </a:r>
            <a:endParaRPr lang="en-US" sz="1300" dirty="0"/>
          </a:p>
        </p:txBody>
      </p:sp>
      <p:sp>
        <p:nvSpPr>
          <p:cNvPr id="7" name="Arrow 2"/>
          <p:cNvSpPr/>
          <p:nvPr/>
        </p:nvSpPr>
        <p:spPr>
          <a:xfrm>
            <a:off x="4092854" y="3337560"/>
            <a:ext cx="246888" cy="0"/>
          </a:xfrm>
          <a:prstGeom prst="line">
            <a:avLst/>
          </a:prstGeom>
          <a:noFill/>
          <a:ln w="25400">
            <a:solidFill>
              <a:schemeClr val="accent1"/>
            </a:solidFill>
            <a:prstDash val="solid"/>
            <a:tailEnd type="triangle"/>
          </a:ln>
        </p:spPr>
      </p:sp>
      <p:sp>
        <p:nvSpPr>
          <p:cNvPr id="8" name="Stage 03"/>
          <p:cNvSpPr/>
          <p:nvPr/>
        </p:nvSpPr>
        <p:spPr>
          <a:xfrm>
            <a:off x="4376318" y="2011680"/>
            <a:ext cx="1561795" cy="2651760"/>
          </a:xfrm>
          <a:prstGeom prst="roundRect">
            <a:avLst>
              <a:gd name="adj" fmla="val 7026"/>
            </a:avLst>
          </a:prstGeom>
          <a:solidFill>
            <a:schemeClr val="accent4"/>
          </a:solidFill>
          <a:ln w="12700">
            <a:solidFill>
              <a:schemeClr val="accent3"/>
            </a:solidFill>
          </a:ln>
        </p:spPr>
        <p:txBody>
          <a:bodyPr wrap="square" lIns="127000" tIns="114300" rIns="114300" bIns="101600" rtlCol="0" anchor="t"/>
          <a:lstStyle/>
          <a:p>
            <a:pPr algn="l" indent="0" marL="0">
              <a:spcAft>
                <a:spcPts val="400"/>
              </a:spcAft>
              <a:buNone/>
            </a:pPr>
            <a:r>
              <a:rPr lang="en-US" sz="1300" b="1" dirty="0">
                <a:solidFill>
                  <a:schemeClr val="accent6"/>
                </a:solidFill>
              </a:rPr>
              <a:t>03</a:t>
            </a:r>
            <a:endParaRPr lang="en-US" sz="1300" dirty="0"/>
          </a:p>
          <a:p>
            <a:pPr algn="l" indent="0" marL="0">
              <a:spcAft>
                <a:spcPts val="400"/>
              </a:spcAft>
              <a:buNone/>
            </a:pPr>
            <a:r>
              <a:rPr lang="en-US" sz="1500" b="1" dirty="0">
                <a:solidFill>
                  <a:schemeClr val="tx2"/>
                </a:solidFill>
              </a:rPr>
              <a:t>Financial Triage</a:t>
            </a:r>
            <a:endParaRPr lang="en-US" sz="1300" dirty="0"/>
          </a:p>
          <a:p>
            <a:pPr algn="l" indent="0" marL="0">
              <a:spcAft>
                <a:spcPts val="800"/>
              </a:spcAft>
              <a:buNone/>
            </a:pPr>
            <a:r>
              <a:rPr lang="en-US" sz="1200" i="1" dirty="0">
                <a:solidFill>
                  <a:schemeClr val="accent2"/>
                </a:solidFill>
              </a:rPr>
              <a:t>Analyst Agent</a:t>
            </a:r>
            <a:endParaRPr lang="en-US" sz="1300" dirty="0"/>
          </a:p>
          <a:p>
            <a:pPr algn="l" indent="0" marL="0">
              <a:buNone/>
            </a:pPr>
            <a:r>
              <a:rPr lang="en-US" sz="1300" dirty="0">
                <a:solidFill>
                  <a:schemeClr val="tx1"/>
                </a:solidFill>
              </a:rPr>
              <a:t>ELV, Revenue at Risk, urgency ranking</a:t>
            </a:r>
            <a:endParaRPr lang="en-US" sz="1300" dirty="0"/>
          </a:p>
        </p:txBody>
      </p:sp>
      <p:sp>
        <p:nvSpPr>
          <p:cNvPr id="9" name="Arrow 3"/>
          <p:cNvSpPr/>
          <p:nvPr/>
        </p:nvSpPr>
        <p:spPr>
          <a:xfrm>
            <a:off x="5974690" y="3337560"/>
            <a:ext cx="246888" cy="0"/>
          </a:xfrm>
          <a:prstGeom prst="line">
            <a:avLst/>
          </a:prstGeom>
          <a:noFill/>
          <a:ln w="25400">
            <a:solidFill>
              <a:schemeClr val="accent1"/>
            </a:solidFill>
            <a:prstDash val="solid"/>
            <a:tailEnd type="triangle"/>
          </a:ln>
        </p:spPr>
      </p:sp>
      <p:sp>
        <p:nvSpPr>
          <p:cNvPr id="10" name="Stage 04"/>
          <p:cNvSpPr/>
          <p:nvPr/>
        </p:nvSpPr>
        <p:spPr>
          <a:xfrm>
            <a:off x="6258154" y="2011680"/>
            <a:ext cx="1561795" cy="2651760"/>
          </a:xfrm>
          <a:prstGeom prst="roundRect">
            <a:avLst>
              <a:gd name="adj" fmla="val 7026"/>
            </a:avLst>
          </a:prstGeom>
          <a:solidFill>
            <a:schemeClr val="accent4"/>
          </a:solidFill>
          <a:ln w="12700">
            <a:solidFill>
              <a:schemeClr val="accent3"/>
            </a:solidFill>
          </a:ln>
        </p:spPr>
        <p:txBody>
          <a:bodyPr wrap="square" lIns="127000" tIns="114300" rIns="114300" bIns="101600" rtlCol="0" anchor="t"/>
          <a:lstStyle/>
          <a:p>
            <a:pPr algn="l" indent="0" marL="0">
              <a:spcAft>
                <a:spcPts val="400"/>
              </a:spcAft>
              <a:buNone/>
            </a:pPr>
            <a:r>
              <a:rPr lang="en-US" sz="1300" b="1" dirty="0">
                <a:solidFill>
                  <a:schemeClr val="accent6"/>
                </a:solidFill>
              </a:rPr>
              <a:t>04</a:t>
            </a:r>
            <a:endParaRPr lang="en-US" sz="1300" dirty="0"/>
          </a:p>
          <a:p>
            <a:pPr algn="l" indent="0" marL="0">
              <a:spcAft>
                <a:spcPts val="400"/>
              </a:spcAft>
              <a:buNone/>
            </a:pPr>
            <a:r>
              <a:rPr lang="en-US" sz="1500" b="1" dirty="0">
                <a:solidFill>
                  <a:schemeClr val="tx2"/>
                </a:solidFill>
              </a:rPr>
              <a:t>Diagnostics</a:t>
            </a:r>
            <a:endParaRPr lang="en-US" sz="1300" dirty="0"/>
          </a:p>
          <a:p>
            <a:pPr algn="l" indent="0" marL="0">
              <a:spcAft>
                <a:spcPts val="800"/>
              </a:spcAft>
              <a:buNone/>
            </a:pPr>
            <a:r>
              <a:rPr lang="en-US" sz="1200" i="1" dirty="0">
                <a:solidFill>
                  <a:schemeClr val="accent2"/>
                </a:solidFill>
              </a:rPr>
              <a:t>Diagnostic Agent</a:t>
            </a:r>
            <a:endParaRPr lang="en-US" sz="1300" dirty="0"/>
          </a:p>
          <a:p>
            <a:pPr algn="l" indent="0" marL="0">
              <a:buNone/>
            </a:pPr>
            <a:r>
              <a:rPr lang="en-US" sz="1300" dirty="0">
                <a:solidFill>
                  <a:schemeClr val="tx1"/>
                </a:solidFill>
              </a:rPr>
              <a:t>TreeSHAP attributions and LLM risk narrative</a:t>
            </a:r>
            <a:endParaRPr lang="en-US" sz="1300" dirty="0"/>
          </a:p>
        </p:txBody>
      </p:sp>
      <p:sp>
        <p:nvSpPr>
          <p:cNvPr id="11" name="Arrow 4"/>
          <p:cNvSpPr/>
          <p:nvPr/>
        </p:nvSpPr>
        <p:spPr>
          <a:xfrm>
            <a:off x="7856525" y="3337560"/>
            <a:ext cx="246888" cy="0"/>
          </a:xfrm>
          <a:prstGeom prst="line">
            <a:avLst/>
          </a:prstGeom>
          <a:noFill/>
          <a:ln w="25400">
            <a:solidFill>
              <a:schemeClr val="accent1"/>
            </a:solidFill>
            <a:prstDash val="solid"/>
            <a:tailEnd type="triangle"/>
          </a:ln>
        </p:spPr>
      </p:sp>
      <p:sp>
        <p:nvSpPr>
          <p:cNvPr id="12" name="Stage 05"/>
          <p:cNvSpPr/>
          <p:nvPr/>
        </p:nvSpPr>
        <p:spPr>
          <a:xfrm>
            <a:off x="8139989" y="2011680"/>
            <a:ext cx="1561795" cy="2651760"/>
          </a:xfrm>
          <a:prstGeom prst="roundRect">
            <a:avLst>
              <a:gd name="adj" fmla="val 7026"/>
            </a:avLst>
          </a:prstGeom>
          <a:solidFill>
            <a:schemeClr val="accent4"/>
          </a:solidFill>
          <a:ln w="12700">
            <a:solidFill>
              <a:schemeClr val="accent3"/>
            </a:solidFill>
          </a:ln>
        </p:spPr>
        <p:txBody>
          <a:bodyPr wrap="square" lIns="127000" tIns="114300" rIns="114300" bIns="101600" rtlCol="0" anchor="t"/>
          <a:lstStyle/>
          <a:p>
            <a:pPr algn="l" indent="0" marL="0">
              <a:spcAft>
                <a:spcPts val="400"/>
              </a:spcAft>
              <a:buNone/>
            </a:pPr>
            <a:r>
              <a:rPr lang="en-US" sz="1300" b="1" dirty="0">
                <a:solidFill>
                  <a:schemeClr val="accent6"/>
                </a:solidFill>
              </a:rPr>
              <a:t>05</a:t>
            </a:r>
            <a:endParaRPr lang="en-US" sz="1300" dirty="0"/>
          </a:p>
          <a:p>
            <a:pPr algn="l" indent="0" marL="0">
              <a:spcAft>
                <a:spcPts val="400"/>
              </a:spcAft>
              <a:buNone/>
            </a:pPr>
            <a:r>
              <a:rPr lang="en-US" sz="1500" b="1" dirty="0">
                <a:solidFill>
                  <a:schemeClr val="tx2"/>
                </a:solidFill>
              </a:rPr>
              <a:t>Strategy &amp; Action</a:t>
            </a:r>
            <a:endParaRPr lang="en-US" sz="1300" dirty="0"/>
          </a:p>
          <a:p>
            <a:pPr algn="l" indent="0" marL="0">
              <a:spcAft>
                <a:spcPts val="800"/>
              </a:spcAft>
              <a:buNone/>
            </a:pPr>
            <a:r>
              <a:rPr lang="en-US" sz="1200" i="1" dirty="0">
                <a:solidFill>
                  <a:schemeClr val="accent2"/>
                </a:solidFill>
              </a:rPr>
              <a:t>Strategist + Executor</a:t>
            </a:r>
            <a:endParaRPr lang="en-US" sz="1300" dirty="0"/>
          </a:p>
          <a:p>
            <a:pPr algn="l" indent="0" marL="0">
              <a:buNone/>
            </a:pPr>
            <a:r>
              <a:rPr lang="en-US" sz="1300" dirty="0">
                <a:solidFill>
                  <a:schemeClr val="tx1"/>
                </a:solidFill>
              </a:rPr>
              <a:t>LinUCB picks the intervention; Action Card issued</a:t>
            </a:r>
            <a:endParaRPr lang="en-US" sz="1300" dirty="0"/>
          </a:p>
        </p:txBody>
      </p:sp>
      <p:sp>
        <p:nvSpPr>
          <p:cNvPr id="13" name="Arrow 5"/>
          <p:cNvSpPr/>
          <p:nvPr/>
        </p:nvSpPr>
        <p:spPr>
          <a:xfrm>
            <a:off x="9738360" y="3337560"/>
            <a:ext cx="246888" cy="0"/>
          </a:xfrm>
          <a:prstGeom prst="line">
            <a:avLst/>
          </a:prstGeom>
          <a:noFill/>
          <a:ln w="25400">
            <a:solidFill>
              <a:schemeClr val="accent1"/>
            </a:solidFill>
            <a:prstDash val="solid"/>
            <a:tailEnd type="triangle"/>
          </a:ln>
        </p:spPr>
      </p:sp>
      <p:sp>
        <p:nvSpPr>
          <p:cNvPr id="14" name="Stage 06"/>
          <p:cNvSpPr/>
          <p:nvPr/>
        </p:nvSpPr>
        <p:spPr>
          <a:xfrm>
            <a:off x="10021824" y="2011680"/>
            <a:ext cx="1561795" cy="2651760"/>
          </a:xfrm>
          <a:prstGeom prst="roundRect">
            <a:avLst>
              <a:gd name="adj" fmla="val 7026"/>
            </a:avLst>
          </a:prstGeom>
          <a:solidFill>
            <a:schemeClr val="accent4"/>
          </a:solidFill>
          <a:ln w="12700">
            <a:solidFill>
              <a:schemeClr val="accent3"/>
            </a:solidFill>
          </a:ln>
        </p:spPr>
        <p:txBody>
          <a:bodyPr wrap="square" lIns="127000" tIns="114300" rIns="114300" bIns="101600" rtlCol="0" anchor="t"/>
          <a:lstStyle/>
          <a:p>
            <a:pPr algn="l" indent="0" marL="0">
              <a:spcAft>
                <a:spcPts val="400"/>
              </a:spcAft>
              <a:buNone/>
            </a:pPr>
            <a:r>
              <a:rPr lang="en-US" sz="1300" b="1" dirty="0">
                <a:solidFill>
                  <a:schemeClr val="accent6"/>
                </a:solidFill>
              </a:rPr>
              <a:t>06</a:t>
            </a:r>
            <a:endParaRPr lang="en-US" sz="1300" dirty="0"/>
          </a:p>
          <a:p>
            <a:pPr algn="l" indent="0" marL="0">
              <a:spcAft>
                <a:spcPts val="400"/>
              </a:spcAft>
              <a:buNone/>
            </a:pPr>
            <a:r>
              <a:rPr lang="en-US" sz="1500" b="1" dirty="0">
                <a:solidFill>
                  <a:schemeClr val="tx2"/>
                </a:solidFill>
              </a:rPr>
              <a:t>Feedback Loop</a:t>
            </a:r>
            <a:endParaRPr lang="en-US" sz="1300" dirty="0"/>
          </a:p>
          <a:p>
            <a:pPr algn="l" indent="0" marL="0">
              <a:spcAft>
                <a:spcPts val="800"/>
              </a:spcAft>
              <a:buNone/>
            </a:pPr>
            <a:r>
              <a:rPr lang="en-US" sz="1200" i="1" dirty="0">
                <a:solidFill>
                  <a:schemeClr val="accent2"/>
                </a:solidFill>
              </a:rPr>
              <a:t>Feedback Agent</a:t>
            </a:r>
            <a:endParaRPr lang="en-US" sz="1300" dirty="0"/>
          </a:p>
          <a:p>
            <a:pPr algn="l" indent="0" marL="0">
              <a:buNone/>
            </a:pPr>
            <a:r>
              <a:rPr lang="en-US" sz="1300" dirty="0">
                <a:solidFill>
                  <a:schemeClr val="tx1"/>
                </a:solidFill>
              </a:rPr>
              <a:t>30-day outcome retrains the policy</a:t>
            </a:r>
            <a:endParaRPr lang="en-US" sz="1300" dirty="0"/>
          </a:p>
        </p:txBody>
      </p:sp>
      <p:sp>
        <p:nvSpPr>
          <p:cNvPr id="15" name="Loop down"/>
          <p:cNvSpPr/>
          <p:nvPr/>
        </p:nvSpPr>
        <p:spPr>
          <a:xfrm>
            <a:off x="10802722" y="4663440"/>
            <a:ext cx="0" cy="411480"/>
          </a:xfrm>
          <a:prstGeom prst="line">
            <a:avLst/>
          </a:prstGeom>
          <a:noFill/>
          <a:ln w="25400">
            <a:solidFill>
              <a:schemeClr val="accent1"/>
            </a:solidFill>
            <a:prstDash val="solid"/>
          </a:ln>
        </p:spPr>
      </p:sp>
      <p:sp>
        <p:nvSpPr>
          <p:cNvPr id="16" name="Loop across"/>
          <p:cNvSpPr/>
          <p:nvPr/>
        </p:nvSpPr>
        <p:spPr>
          <a:xfrm>
            <a:off x="8920886" y="5074920"/>
            <a:ext cx="1881835" cy="0"/>
          </a:xfrm>
          <a:prstGeom prst="line">
            <a:avLst/>
          </a:prstGeom>
          <a:noFill/>
          <a:ln w="25400">
            <a:solidFill>
              <a:schemeClr val="accent1"/>
            </a:solidFill>
            <a:prstDash val="solid"/>
          </a:ln>
        </p:spPr>
      </p:sp>
      <p:sp>
        <p:nvSpPr>
          <p:cNvPr id="17" name="Loop up"/>
          <p:cNvSpPr/>
          <p:nvPr/>
        </p:nvSpPr>
        <p:spPr>
          <a:xfrm flipV="1">
            <a:off x="8920886" y="4663440"/>
            <a:ext cx="0" cy="411480"/>
          </a:xfrm>
          <a:prstGeom prst="line">
            <a:avLst/>
          </a:prstGeom>
          <a:noFill/>
          <a:ln w="25400">
            <a:solidFill>
              <a:schemeClr val="accent1"/>
            </a:solidFill>
            <a:prstDash val="solid"/>
            <a:tailEnd type="triangle"/>
          </a:ln>
        </p:spPr>
      </p:sp>
      <p:sp>
        <p:nvSpPr>
          <p:cNvPr id="18" name="Loop label"/>
          <p:cNvSpPr txBox="1"/>
          <p:nvPr/>
        </p:nvSpPr>
        <p:spPr>
          <a:xfrm>
            <a:off x="7823606" y="5148072"/>
            <a:ext cx="4076395" cy="320040"/>
          </a:xfrm>
          <a:prstGeom prst="rect">
            <a:avLst/>
          </a:prstGeom>
          <a:noFill/>
          <a:ln/>
        </p:spPr>
        <p:txBody>
          <a:bodyPr wrap="square" lIns="0" tIns="0" rIns="0" bIns="0" rtlCol="0" anchor="ctr"/>
          <a:lstStyle/>
          <a:p>
            <a:pPr algn="ctr" indent="0" marL="0">
              <a:buNone/>
            </a:pPr>
            <a:r>
              <a:rPr lang="en-US" sz="1300" dirty="0">
                <a:solidFill>
                  <a:schemeClr val="accent2"/>
                </a:solidFill>
              </a:rPr>
              <a:t>Reward update from observed outcomes</a:t>
            </a:r>
            <a:endParaRPr lang="en-US" sz="1300" dirty="0"/>
          </a:p>
        </p:txBody>
      </p:sp>
      <p:sp>
        <p:nvSpPr>
          <p:cNvPr id="19" name="Input and output"/>
          <p:cNvSpPr txBox="1"/>
          <p:nvPr/>
        </p:nvSpPr>
        <p:spPr>
          <a:xfrm>
            <a:off x="612648" y="5760720"/>
            <a:ext cx="10972800" cy="411480"/>
          </a:xfrm>
          <a:prstGeom prst="rect">
            <a:avLst/>
          </a:prstGeom>
          <a:noFill/>
          <a:ln/>
        </p:spPr>
        <p:txBody>
          <a:bodyPr wrap="square" lIns="0" tIns="0" rIns="0" bIns="0" rtlCol="0" anchor="ctr"/>
          <a:lstStyle/>
          <a:p>
            <a:pPr indent="0" marL="0">
              <a:buNone/>
            </a:pPr>
            <a:r>
              <a:rPr lang="en-US" sz="1400" b="1" dirty="0">
                <a:solidFill>
                  <a:schemeClr val="tx2"/>
                </a:solidFill>
              </a:rPr>
              <a:t>Input: </a:t>
            </a:r>
            <a:pPr indent="0" marL="0">
              <a:buNone/>
            </a:pPr>
            <a:r>
              <a:rPr lang="en-US" sz="1400" dirty="0">
                <a:solidFill>
                  <a:schemeClr val="tx1"/>
                </a:solidFill>
              </a:rPr>
              <a:t>IBM HR Analytics (primary) and Healthcare (validation) datasets.   </a:t>
            </a:r>
            <a:pPr indent="0" marL="0">
              <a:buNone/>
            </a:pPr>
            <a:r>
              <a:rPr lang="en-US" sz="1400" b="1" dirty="0">
                <a:solidFill>
                  <a:schemeClr val="tx2"/>
                </a:solidFill>
              </a:rPr>
              <a:t>Output: </a:t>
            </a:r>
            <a:pPr indent="0" marL="0">
              <a:buNone/>
            </a:pPr>
            <a:r>
              <a:rPr lang="en-US" sz="1400" dirty="0">
                <a:solidFill>
                  <a:schemeClr val="tx1"/>
                </a:solidFill>
              </a:rPr>
              <a:t>Manager Retention Action Card.</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972800" cy="731520"/>
          </a:xfrm>
          <a:prstGeom prst="rect">
            <a:avLst/>
          </a:prstGeom>
          <a:noFill/>
          <a:ln/>
        </p:spPr>
        <p:txBody>
          <a:bodyPr wrap="square" lIns="0" tIns="0" rIns="0" bIns="0" rtlCol="0" anchor="ctr"/>
          <a:lstStyle/>
          <a:p>
            <a:pPr algn="l" indent="0" marL="0">
              <a:buNone/>
            </a:pPr>
            <a:r>
              <a:rPr lang="en-US" sz="3000" b="1" dirty="0">
                <a:solidFill>
                  <a:schemeClr val="tx2"/>
                </a:solidFill>
              </a:rPr>
              <a:t>NEXUS AI Platform: What We Built</a:t>
            </a:r>
            <a:endParaRPr lang="en-US" sz="3000" dirty="0"/>
          </a:p>
        </p:txBody>
      </p:sp>
      <p:sp>
        <p:nvSpPr>
          <p:cNvPr id="3" name="Subtitle"/>
          <p:cNvSpPr txBox="1"/>
          <p:nvPr/>
        </p:nvSpPr>
        <p:spPr>
          <a:xfrm>
            <a:off x="640080" y="1234440"/>
            <a:ext cx="10058400" cy="411480"/>
          </a:xfrm>
          <a:prstGeom prst="rect">
            <a:avLst/>
          </a:prstGeom>
          <a:noFill/>
          <a:ln/>
        </p:spPr>
        <p:txBody>
          <a:bodyPr wrap="square" lIns="0" tIns="0" rIns="0" bIns="0" rtlCol="0" anchor="ctr"/>
          <a:lstStyle/>
          <a:p>
            <a:pPr indent="0" marL="0">
              <a:buNone/>
            </a:pPr>
            <a:r>
              <a:rPr lang="en-US" sz="1800" i="1" dirty="0">
                <a:solidFill>
                  <a:schemeClr val="accent2"/>
                </a:solidFill>
              </a:rPr>
              <a:t>A web application that implements the full pipeline</a:t>
            </a:r>
            <a:endParaRPr lang="en-US" sz="1800" dirty="0"/>
          </a:p>
        </p:txBody>
      </p:sp>
      <p:sp>
        <p:nvSpPr>
          <p:cNvPr id="4" name="Bullets"/>
          <p:cNvSpPr txBox="1"/>
          <p:nvPr/>
        </p:nvSpPr>
        <p:spPr>
          <a:xfrm>
            <a:off x="640080" y="1874520"/>
            <a:ext cx="5486400" cy="4389120"/>
          </a:xfrm>
          <a:prstGeom prst="rect">
            <a:avLst/>
          </a:prstGeom>
          <a:noFill/>
          <a:ln/>
        </p:spPr>
        <p:txBody>
          <a:bodyPr wrap="square" lIns="0" tIns="0" rIns="0" bIns="0" rtlCol="0" anchor="t"/>
          <a:lstStyle/>
          <a:p>
            <a:pPr marL="254000" indent="-254000">
              <a:spcAft>
                <a:spcPts val="1200"/>
              </a:spcAft>
              <a:buSzPct val="100000"/>
              <a:buChar char="•"/>
            </a:pPr>
            <a:r>
              <a:rPr lang="en-US" sz="1600" dirty="0">
                <a:solidFill>
                  <a:schemeClr val="tx1"/>
                </a:solidFill>
              </a:rPr>
              <a:t>Built NEXUS AI as a single web platform, deployed on Render</a:t>
            </a:r>
            <a:endParaRPr lang="en-US" sz="1600" dirty="0"/>
          </a:p>
          <a:p>
            <a:pPr marL="254000" indent="-254000">
              <a:spcAft>
                <a:spcPts val="1200"/>
              </a:spcAft>
              <a:buSzPct val="100000"/>
              <a:buChar char="•"/>
            </a:pPr>
            <a:r>
              <a:rPr lang="en-US" sz="1600" dirty="0">
                <a:solidFill>
                  <a:schemeClr val="tx1"/>
                </a:solidFill>
              </a:rPr>
              <a:t>Five modules: Model Metrics, Financial Intelligence, Explainability, Retention Operations, Risk Explorer</a:t>
            </a:r>
            <a:endParaRPr lang="en-US" sz="1600" dirty="0"/>
          </a:p>
          <a:p>
            <a:pPr marL="254000" indent="-254000">
              <a:spcAft>
                <a:spcPts val="1200"/>
              </a:spcAft>
              <a:buSzPct val="100000"/>
              <a:buChar char="•"/>
            </a:pPr>
            <a:r>
              <a:rPr lang="en-US" sz="1600" dirty="0">
                <a:solidFill>
                  <a:schemeClr val="tx1"/>
                </a:solidFill>
              </a:rPr>
              <a:t>Dataset selector: IBM HR (primary), Healthcare (validation), plus custom upload</a:t>
            </a:r>
            <a:endParaRPr lang="en-US" sz="1600" dirty="0"/>
          </a:p>
          <a:p>
            <a:pPr marL="254000" indent="-254000">
              <a:spcAft>
                <a:spcPts val="1200"/>
              </a:spcAft>
              <a:buSzPct val="100000"/>
              <a:buChar char="•"/>
            </a:pPr>
            <a:r>
              <a:rPr lang="en-US" sz="1600" dirty="0">
                <a:solidFill>
                  <a:schemeClr val="tx1"/>
                </a:solidFill>
              </a:rPr>
              <a:t>One-click Train Pipeline, with pre-trained calibrated models ready on load</a:t>
            </a:r>
            <a:endParaRPr lang="en-US" sz="1600" dirty="0"/>
          </a:p>
          <a:p>
            <a:pPr marL="254000" indent="-254000">
              <a:spcAft>
                <a:spcPts val="1200"/>
              </a:spcAft>
              <a:buSzPct val="100000"/>
              <a:buChar char="•"/>
            </a:pPr>
            <a:r>
              <a:rPr lang="en-US" sz="1600" dirty="0">
                <a:solidFill>
                  <a:schemeClr val="tx1"/>
                </a:solidFill>
              </a:rPr>
              <a:t>Workforce directory with server-side pagination and risk-tier filtering</a:t>
            </a:r>
            <a:endParaRPr lang="en-US" sz="1600" dirty="0"/>
          </a:p>
          <a:p>
            <a:pPr marL="254000" indent="-254000">
              <a:spcAft>
                <a:spcPts val="1200"/>
              </a:spcAft>
              <a:buSzPct val="100000"/>
              <a:buChar char="•"/>
            </a:pPr>
            <a:r>
              <a:rPr lang="en-US" sz="1600" dirty="0">
                <a:solidFill>
                  <a:schemeClr val="tx1"/>
                </a:solidFill>
              </a:rPr>
              <a:t>Risk shown at 30, 60 and 90-day horizons across modules</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defRPr>
            </a:lvl1pPr>
          </a:lstStyle>
          <a:p>
            <a:pPr algn="r"/>
            <a:fld id="{F7021451-1387-4CA6-816F-3879F97B5CBC}" type="slidenum">
              <a:rPr b="0" lang="en-US"/>
              <a:t>4</a:t>
            </a:fld>
            <a:endParaRPr lang="en-US"/>
          </a:p>
        </p:txBody>
      </p:sp>
      <p:pic>
        <p:nvPicPr>
          <p:cNvPr id="26" name="Picture 25" descr="Slide4_Platform_Overview.png"/>
          <p:cNvPicPr>
            <a:picLocks noChangeAspect="1"/>
          </p:cNvPicPr>
          <p:nvPr/>
        </p:nvPicPr>
        <p:blipFill>
          <a:blip r:embed="rId3"/>
          <a:stretch>
            <a:fillRect/>
          </a:stretch>
        </p:blipFill>
        <p:spPr>
          <a:xfrm>
            <a:off x="6492240" y="2818066"/>
            <a:ext cx="5074920" cy="2410587"/>
          </a:xfrm>
          <a:prstGeom prst="rect">
            <a:avLst/>
          </a:prstGeom>
          <a:ln w="19050">
            <a:solidFill>
              <a:srgbClr val="D2DCEB"/>
            </a:solid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972800" cy="731520"/>
          </a:xfrm>
          <a:prstGeom prst="rect">
            <a:avLst/>
          </a:prstGeom>
          <a:noFill/>
          <a:ln/>
        </p:spPr>
        <p:txBody>
          <a:bodyPr wrap="square" lIns="0" tIns="0" rIns="0" bIns="0" rtlCol="0" anchor="ctr"/>
          <a:lstStyle/>
          <a:p>
            <a:pPr algn="l" indent="0" marL="0">
              <a:buNone/>
            </a:pPr>
            <a:r>
              <a:rPr lang="en-US" sz="3000" b="1" dirty="0">
                <a:solidFill>
                  <a:schemeClr val="tx2"/>
                </a:solidFill>
              </a:rPr>
              <a:t>Cox Proportional Hazards Implementation</a:t>
            </a:r>
            <a:endParaRPr lang="en-US" sz="3000" dirty="0"/>
          </a:p>
        </p:txBody>
      </p:sp>
      <p:sp>
        <p:nvSpPr>
          <p:cNvPr id="3" name="Subtitle"/>
          <p:cNvSpPr txBox="1"/>
          <p:nvPr/>
        </p:nvSpPr>
        <p:spPr>
          <a:xfrm>
            <a:off x="640080" y="1234440"/>
            <a:ext cx="10058400" cy="411480"/>
          </a:xfrm>
          <a:prstGeom prst="rect">
            <a:avLst/>
          </a:prstGeom>
          <a:noFill/>
          <a:ln/>
        </p:spPr>
        <p:txBody>
          <a:bodyPr wrap="square" lIns="0" tIns="0" rIns="0" bIns="0" rtlCol="0" anchor="ctr"/>
          <a:lstStyle/>
          <a:p>
            <a:pPr indent="0" marL="0">
              <a:buNone/>
            </a:pPr>
            <a:r>
              <a:rPr lang="en-US" sz="1800" i="1" dirty="0">
                <a:solidFill>
                  <a:schemeClr val="accent2"/>
                </a:solidFill>
              </a:rPr>
              <a:t>Statistical baseline and hazard ratios</a:t>
            </a:r>
            <a:endParaRPr lang="en-US" sz="1800" dirty="0"/>
          </a:p>
        </p:txBody>
      </p:sp>
      <p:sp>
        <p:nvSpPr>
          <p:cNvPr id="4" name="Bullets"/>
          <p:cNvSpPr txBox="1"/>
          <p:nvPr/>
        </p:nvSpPr>
        <p:spPr>
          <a:xfrm>
            <a:off x="640080" y="1874520"/>
            <a:ext cx="5486400" cy="4389120"/>
          </a:xfrm>
          <a:prstGeom prst="rect">
            <a:avLst/>
          </a:prstGeom>
          <a:noFill/>
          <a:ln/>
        </p:spPr>
        <p:txBody>
          <a:bodyPr wrap="square" lIns="0" tIns="0" rIns="0" bIns="0" rtlCol="0" anchor="t"/>
          <a:lstStyle/>
          <a:p>
            <a:pPr marL="254000" indent="-254000">
              <a:spcAft>
                <a:spcPts val="1200"/>
              </a:spcAft>
              <a:buSzPct val="100000"/>
              <a:buChar char="•"/>
            </a:pPr>
            <a:r>
              <a:rPr lang="en-US" sz="1600" dirty="0">
                <a:solidFill>
                  <a:schemeClr val="tx1"/>
                </a:solidFill>
              </a:rPr>
              <a:t>Fitted Cox PH on duration and event targets with L2 penalizer 0.001</a:t>
            </a:r>
            <a:endParaRPr lang="en-US" sz="1600" dirty="0"/>
          </a:p>
          <a:p>
            <a:pPr marL="254000" indent="-254000">
              <a:spcAft>
                <a:spcPts val="1200"/>
              </a:spcAft>
              <a:buSzPct val="100000"/>
              <a:buChar char="•"/>
            </a:pPr>
            <a:r>
              <a:rPr lang="en-US" sz="1600" dirty="0">
                <a:solidFill>
                  <a:schemeClr val="tx1"/>
                </a:solidFill>
              </a:rPr>
              <a:t>Breslow estimator for the baseline hazard; Newton-Raphson on the partial likelihood</a:t>
            </a:r>
            <a:endParaRPr lang="en-US" sz="1600" dirty="0"/>
          </a:p>
          <a:p>
            <a:pPr marL="254000" indent="-254000">
              <a:spcAft>
                <a:spcPts val="1200"/>
              </a:spcAft>
              <a:buSzPct val="100000"/>
              <a:buChar char="•"/>
            </a:pPr>
            <a:r>
              <a:rPr lang="en-US" sz="1600" dirty="0">
                <a:solidFill>
                  <a:schemeClr val="tx1"/>
                </a:solidFill>
              </a:rPr>
              <a:t>Checked the proportional-hazards assumption with Schoenfeld residuals</a:t>
            </a:r>
            <a:endParaRPr lang="en-US" sz="1600" dirty="0"/>
          </a:p>
          <a:p>
            <a:pPr marL="254000" indent="-254000">
              <a:spcAft>
                <a:spcPts val="1200"/>
              </a:spcAft>
              <a:buSzPct val="100000"/>
              <a:buChar char="•"/>
            </a:pPr>
            <a:r>
              <a:rPr lang="en-US" sz="1600" dirty="0">
                <a:solidFill>
                  <a:schemeClr val="tx1"/>
                </a:solidFill>
              </a:rPr>
              <a:t>Reported hazard ratios with 95% confidence intervals and p-values per feature</a:t>
            </a:r>
            <a:endParaRPr lang="en-US" sz="1600" dirty="0"/>
          </a:p>
          <a:p>
            <a:pPr marL="254000" indent="-254000">
              <a:spcAft>
                <a:spcPts val="1200"/>
              </a:spcAft>
              <a:buSzPct val="100000"/>
              <a:buChar char="•"/>
            </a:pPr>
            <a:r>
              <a:rPr lang="en-US" sz="1600" dirty="0">
                <a:solidFill>
                  <a:schemeClr val="tx1"/>
                </a:solidFill>
              </a:rPr>
              <a:t>Evaluated with test, train and 5-fold CV concordance plus Integrated Brier Score</a:t>
            </a:r>
            <a:endParaRPr lang="en-US" sz="1600" dirty="0"/>
          </a:p>
          <a:p>
            <a:pPr marL="254000" indent="-254000">
              <a:spcAft>
                <a:spcPts val="1200"/>
              </a:spcAft>
              <a:buSzPct val="100000"/>
              <a:buChar char="•"/>
            </a:pPr>
            <a:r>
              <a:rPr lang="en-US" sz="1600" dirty="0">
                <a:solidFill>
                  <a:schemeClr val="tx1"/>
                </a:solidFill>
              </a:rPr>
              <a:t>Serves as the smooth statistical anchor inside the ensemble</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defRPr>
            </a:lvl1pPr>
          </a:lstStyle>
          <a:p>
            <a:pPr algn="r"/>
            <a:fld id="{F7021451-1387-4CA6-816F-3879F97B5CBC}" type="slidenum">
              <a:rPr b="0" lang="en-US"/>
              <a:t>5</a:t>
            </a:fld>
            <a:endParaRPr lang="en-US"/>
          </a:p>
        </p:txBody>
      </p:sp>
      <p:pic>
        <p:nvPicPr>
          <p:cNvPr id="26" name="Picture 25" descr="Slide5_Cox_Hazard_Ratios.png"/>
          <p:cNvPicPr>
            <a:picLocks noChangeAspect="1"/>
          </p:cNvPicPr>
          <p:nvPr/>
        </p:nvPicPr>
        <p:blipFill>
          <a:blip r:embed="rId3"/>
          <a:stretch>
            <a:fillRect/>
          </a:stretch>
        </p:blipFill>
        <p:spPr>
          <a:xfrm>
            <a:off x="6492240" y="2818066"/>
            <a:ext cx="5074920" cy="2410587"/>
          </a:xfrm>
          <a:prstGeom prst="rect">
            <a:avLst/>
          </a:prstGeom>
          <a:ln w="19050">
            <a:solidFill>
              <a:srgbClr val="D2DCEB"/>
            </a:solid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972800" cy="731520"/>
          </a:xfrm>
          <a:prstGeom prst="rect">
            <a:avLst/>
          </a:prstGeom>
          <a:noFill/>
          <a:ln/>
        </p:spPr>
        <p:txBody>
          <a:bodyPr wrap="square" lIns="0" tIns="0" rIns="0" bIns="0" rtlCol="0" anchor="ctr"/>
          <a:lstStyle/>
          <a:p>
            <a:pPr algn="l" indent="0" marL="0">
              <a:buNone/>
            </a:pPr>
            <a:r>
              <a:rPr lang="en-US" sz="3000" b="1" dirty="0">
                <a:solidFill>
                  <a:schemeClr val="tx2"/>
                </a:solidFill>
              </a:rPr>
              <a:t>Random Survival Forest &amp; Weighted Ensemble</a:t>
            </a:r>
            <a:endParaRPr lang="en-US" sz="3000" dirty="0"/>
          </a:p>
        </p:txBody>
      </p:sp>
      <p:sp>
        <p:nvSpPr>
          <p:cNvPr id="3" name="Subtitle"/>
          <p:cNvSpPr txBox="1"/>
          <p:nvPr/>
        </p:nvSpPr>
        <p:spPr>
          <a:xfrm>
            <a:off x="640080" y="1234440"/>
            <a:ext cx="10058400" cy="411480"/>
          </a:xfrm>
          <a:prstGeom prst="rect">
            <a:avLst/>
          </a:prstGeom>
          <a:noFill/>
          <a:ln/>
        </p:spPr>
        <p:txBody>
          <a:bodyPr wrap="square" lIns="0" tIns="0" rIns="0" bIns="0" rtlCol="0" anchor="ctr"/>
          <a:lstStyle/>
          <a:p>
            <a:pPr indent="0" marL="0">
              <a:buNone/>
            </a:pPr>
            <a:r>
              <a:rPr lang="en-US" sz="1800" i="1" dirty="0">
                <a:solidFill>
                  <a:schemeClr val="accent2"/>
                </a:solidFill>
              </a:rPr>
              <a:t>Non-linear model and a self-calibrating blend</a:t>
            </a:r>
            <a:endParaRPr lang="en-US" sz="1800" dirty="0"/>
          </a:p>
        </p:txBody>
      </p:sp>
      <p:sp>
        <p:nvSpPr>
          <p:cNvPr id="4" name="Bullets"/>
          <p:cNvSpPr txBox="1"/>
          <p:nvPr/>
        </p:nvSpPr>
        <p:spPr>
          <a:xfrm>
            <a:off x="640080" y="1874520"/>
            <a:ext cx="5486400" cy="4389120"/>
          </a:xfrm>
          <a:prstGeom prst="rect">
            <a:avLst/>
          </a:prstGeom>
          <a:noFill/>
          <a:ln/>
        </p:spPr>
        <p:txBody>
          <a:bodyPr wrap="square" lIns="0" tIns="0" rIns="0" bIns="0" rtlCol="0" anchor="t"/>
          <a:lstStyle/>
          <a:p>
            <a:pPr marL="254000" indent="-254000">
              <a:spcAft>
                <a:spcPts val="1200"/>
              </a:spcAft>
              <a:buSzPct val="100000"/>
              <a:buChar char="•"/>
            </a:pPr>
            <a:r>
              <a:rPr lang="en-US" sz="1600" dirty="0">
                <a:solidFill>
                  <a:schemeClr val="tx1"/>
                </a:solidFill>
              </a:rPr>
              <a:t>Trained RSF with 300 trees, log-rank splitting, min split 6, min leaf 3, sqrt features</a:t>
            </a:r>
            <a:endParaRPr lang="en-US" sz="1600" dirty="0"/>
          </a:p>
          <a:p>
            <a:pPr marL="254000" indent="-254000">
              <a:spcAft>
                <a:spcPts val="1200"/>
              </a:spcAft>
              <a:buSzPct val="100000"/>
              <a:buChar char="•"/>
            </a:pPr>
            <a:r>
              <a:rPr lang="en-US" sz="1600" dirty="0">
                <a:solidFill>
                  <a:schemeClr val="tx1"/>
                </a:solidFill>
              </a:rPr>
              <a:t>Parallelized across cores (n_jobs = -1)</a:t>
            </a:r>
            <a:endParaRPr lang="en-US" sz="1600" dirty="0"/>
          </a:p>
          <a:p>
            <a:pPr marL="254000" indent="-254000">
              <a:spcAft>
                <a:spcPts val="1200"/>
              </a:spcAft>
              <a:buSzPct val="100000"/>
              <a:buChar char="•"/>
            </a:pPr>
            <a:r>
              <a:rPr lang="en-US" sz="1600" dirty="0">
                <a:solidFill>
                  <a:schemeClr val="tx1"/>
                </a:solidFill>
              </a:rPr>
              <a:t>Inter-tree variance gives 95% confidence bands per employee</a:t>
            </a:r>
            <a:endParaRPr lang="en-US" sz="1600" dirty="0"/>
          </a:p>
          <a:p>
            <a:pPr marL="254000" indent="-254000">
              <a:spcAft>
                <a:spcPts val="1200"/>
              </a:spcAft>
              <a:buSzPct val="100000"/>
              <a:buChar char="•"/>
            </a:pPr>
            <a:r>
              <a:rPr lang="en-US" sz="1600" dirty="0">
                <a:solidFill>
                  <a:schemeClr val="tx1"/>
                </a:solidFill>
              </a:rPr>
              <a:t>Ensemble blends curves: S = w_Cox · S_Cox + w_RSF · S_RSF</a:t>
            </a:r>
            <a:endParaRPr lang="en-US" sz="1600" dirty="0"/>
          </a:p>
          <a:p>
            <a:pPr marL="254000" indent="-254000">
              <a:spcAft>
                <a:spcPts val="1200"/>
              </a:spcAft>
              <a:buSzPct val="100000"/>
              <a:buChar char="•"/>
            </a:pPr>
            <a:r>
              <a:rPr lang="en-US" sz="1600" dirty="0">
                <a:solidFill>
                  <a:schemeClr val="tx1"/>
                </a:solidFill>
              </a:rPr>
              <a:t>Weights set automatically from concordance: w = (C − 0.5) / Σ(C − 0.5)</a:t>
            </a:r>
            <a:endParaRPr lang="en-US" sz="1600" dirty="0"/>
          </a:p>
          <a:p>
            <a:pPr marL="254000" indent="-254000">
              <a:spcAft>
                <a:spcPts val="1200"/>
              </a:spcAft>
              <a:buSzPct val="100000"/>
              <a:buChar char="•"/>
            </a:pPr>
            <a:r>
              <a:rPr lang="en-US" sz="1600" dirty="0">
                <a:solidFill>
                  <a:schemeClr val="tx1"/>
                </a:solidFill>
              </a:rPr>
              <a:t>Outputs 30, 60 and 90-day departure probabilities</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defRPr>
            </a:lvl1pPr>
          </a:lstStyle>
          <a:p>
            <a:pPr algn="r"/>
            <a:fld id="{F7021451-1387-4CA6-816F-3879F97B5CBC}" type="slidenum">
              <a:rPr b="0" lang="en-US"/>
              <a:t>6</a:t>
            </a:fld>
            <a:endParaRPr lang="en-US"/>
          </a:p>
        </p:txBody>
      </p:sp>
      <p:pic>
        <p:nvPicPr>
          <p:cNvPr id="26" name="Picture 25" descr="Slide6_RSF_Ensemble_Weights.png"/>
          <p:cNvPicPr>
            <a:picLocks noChangeAspect="1"/>
          </p:cNvPicPr>
          <p:nvPr/>
        </p:nvPicPr>
        <p:blipFill>
          <a:blip r:embed="rId3"/>
          <a:stretch>
            <a:fillRect/>
          </a:stretch>
        </p:blipFill>
        <p:spPr>
          <a:xfrm>
            <a:off x="6492240" y="2818066"/>
            <a:ext cx="5074920" cy="2410587"/>
          </a:xfrm>
          <a:prstGeom prst="rect">
            <a:avLst/>
          </a:prstGeom>
          <a:ln w="19050">
            <a:solidFill>
              <a:srgbClr val="D2DCEB"/>
            </a:solid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972800" cy="731520"/>
          </a:xfrm>
          <a:prstGeom prst="rect">
            <a:avLst/>
          </a:prstGeom>
          <a:noFill/>
          <a:ln/>
        </p:spPr>
        <p:txBody>
          <a:bodyPr wrap="square" lIns="0" tIns="0" rIns="0" bIns="0" rtlCol="0" anchor="ctr"/>
          <a:lstStyle/>
          <a:p>
            <a:pPr algn="l" indent="0" marL="0">
              <a:buNone/>
            </a:pPr>
            <a:r>
              <a:rPr lang="en-US" sz="3000" b="1" dirty="0">
                <a:solidFill>
                  <a:schemeClr val="tx2"/>
                </a:solidFill>
              </a:rPr>
              <a:t>Model Evaluation &amp; Benchmarking</a:t>
            </a:r>
            <a:endParaRPr lang="en-US" sz="3000" dirty="0"/>
          </a:p>
        </p:txBody>
      </p:sp>
      <p:sp>
        <p:nvSpPr>
          <p:cNvPr id="3" name="Subtitle"/>
          <p:cNvSpPr txBox="1"/>
          <p:nvPr/>
        </p:nvSpPr>
        <p:spPr>
          <a:xfrm>
            <a:off x="640080" y="1234440"/>
            <a:ext cx="10058400" cy="411480"/>
          </a:xfrm>
          <a:prstGeom prst="rect">
            <a:avLst/>
          </a:prstGeom>
          <a:noFill/>
          <a:ln/>
        </p:spPr>
        <p:txBody>
          <a:bodyPr wrap="square" lIns="0" tIns="0" rIns="0" bIns="0" rtlCol="0" anchor="ctr"/>
          <a:lstStyle/>
          <a:p>
            <a:pPr indent="0" marL="0">
              <a:buNone/>
            </a:pPr>
            <a:r>
              <a:rPr lang="en-US" sz="1800" i="1" dirty="0">
                <a:solidFill>
                  <a:schemeClr val="accent2"/>
                </a:solidFill>
              </a:rPr>
              <a:t>Held-out stratified 20% test split</a:t>
            </a:r>
            <a:endParaRPr lang="en-US" sz="1800" dirty="0"/>
          </a:p>
        </p:txBody>
      </p:sp>
      <p:sp>
        <p:nvSpPr>
          <p:cNvPr id="4" name="Bullets"/>
          <p:cNvSpPr txBox="1"/>
          <p:nvPr/>
        </p:nvSpPr>
        <p:spPr>
          <a:xfrm>
            <a:off x="640080" y="1874520"/>
            <a:ext cx="5486400" cy="4389120"/>
          </a:xfrm>
          <a:prstGeom prst="rect">
            <a:avLst/>
          </a:prstGeom>
          <a:noFill/>
          <a:ln/>
        </p:spPr>
        <p:txBody>
          <a:bodyPr wrap="square" lIns="0" tIns="0" rIns="0" bIns="0" rtlCol="0" anchor="t"/>
          <a:lstStyle/>
          <a:p>
            <a:pPr marL="254000" indent="-254000">
              <a:spcAft>
                <a:spcPts val="1200"/>
              </a:spcAft>
              <a:buSzPct val="100000"/>
              <a:buChar char="•"/>
            </a:pPr>
            <a:r>
              <a:rPr lang="en-US" sz="1600" dirty="0">
                <a:solidFill>
                  <a:schemeClr val="tx1"/>
                </a:solidFill>
              </a:rPr>
              <a:t>Benchmarked Cox, RSF, ensemble, Logistic Regression (SMOTE) and Kaplan-Meier</a:t>
            </a:r>
            <a:endParaRPr lang="en-US" sz="1600" dirty="0"/>
          </a:p>
          <a:p>
            <a:pPr marL="254000" indent="-254000">
              <a:spcAft>
                <a:spcPts val="1200"/>
              </a:spcAft>
              <a:buSzPct val="100000"/>
              <a:buChar char="•"/>
            </a:pPr>
            <a:r>
              <a:rPr lang="en-US" sz="1600" dirty="0">
                <a:solidFill>
                  <a:schemeClr val="tx1"/>
                </a:solidFill>
              </a:rPr>
              <a:t>Reported C-index, Integrated Brier Score, accuracy, precision, recall, specificity, F1 and ROC-AUC</a:t>
            </a:r>
            <a:endParaRPr lang="en-US" sz="1600" dirty="0"/>
          </a:p>
          <a:p>
            <a:pPr marL="254000" indent="-254000">
              <a:spcAft>
                <a:spcPts val="1200"/>
              </a:spcAft>
              <a:buSzPct val="100000"/>
              <a:buChar char="•"/>
            </a:pPr>
            <a:r>
              <a:rPr lang="en-US" sz="1600" dirty="0">
                <a:solidFill>
                  <a:schemeClr val="tx1"/>
                </a:solidFill>
              </a:rPr>
              <a:t>Calibrated every model's decision threshold with Youden's J</a:t>
            </a:r>
            <a:endParaRPr lang="en-US" sz="1600" dirty="0"/>
          </a:p>
          <a:p>
            <a:pPr marL="254000" indent="-254000">
              <a:spcAft>
                <a:spcPts val="1200"/>
              </a:spcAft>
              <a:buSzPct val="100000"/>
              <a:buChar char="•"/>
            </a:pPr>
            <a:r>
              <a:rPr lang="en-US" sz="1600" dirty="0">
                <a:solidFill>
                  <a:schemeClr val="tx1"/>
                </a:solidFill>
              </a:rPr>
              <a:t>Compared ROC curves and confusion-matrix heatmaps side by side</a:t>
            </a:r>
            <a:endParaRPr lang="en-US" sz="1600" dirty="0"/>
          </a:p>
          <a:p>
            <a:pPr marL="254000" indent="-254000">
              <a:spcAft>
                <a:spcPts val="1200"/>
              </a:spcAft>
              <a:buSzPct val="100000"/>
              <a:buChar char="•"/>
            </a:pPr>
            <a:r>
              <a:rPr lang="en-US" sz="1600" dirty="0">
                <a:solidFill>
                  <a:schemeClr val="tx1"/>
                </a:solidFill>
              </a:rPr>
              <a:t>Plotted Kaplan-Meier curves for the whole workforce and by department</a:t>
            </a:r>
            <a:endParaRPr lang="en-US" sz="1600" dirty="0"/>
          </a:p>
          <a:p>
            <a:pPr marL="254000" indent="-254000">
              <a:spcAft>
                <a:spcPts val="1200"/>
              </a:spcAft>
              <a:buSzPct val="100000"/>
              <a:buChar char="•"/>
            </a:pPr>
            <a:r>
              <a:rPr lang="en-US" sz="1600" dirty="0">
                <a:solidFill>
                  <a:schemeClr val="tx1"/>
                </a:solidFill>
              </a:rPr>
              <a:t>Ensemble results: C-index ≈ 0.82–0.84, IBS ≈ 0.05</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defRPr>
            </a:lvl1pPr>
          </a:lstStyle>
          <a:p>
            <a:pPr algn="r"/>
            <a:fld id="{F7021451-1387-4CA6-816F-3879F97B5CBC}" type="slidenum">
              <a:rPr b="0" lang="en-US"/>
              <a:t>7</a:t>
            </a:fld>
            <a:endParaRPr lang="en-US"/>
          </a:p>
        </p:txBody>
      </p:sp>
      <p:pic>
        <p:nvPicPr>
          <p:cNvPr id="26" name="Picture 25" descr="Slide7_Model_Evaluation_Metrics.png"/>
          <p:cNvPicPr>
            <a:picLocks noChangeAspect="1"/>
          </p:cNvPicPr>
          <p:nvPr/>
        </p:nvPicPr>
        <p:blipFill>
          <a:blip r:embed="rId3"/>
          <a:stretch>
            <a:fillRect/>
          </a:stretch>
        </p:blipFill>
        <p:spPr>
          <a:xfrm>
            <a:off x="6492240" y="2818066"/>
            <a:ext cx="5074920" cy="2410587"/>
          </a:xfrm>
          <a:prstGeom prst="rect">
            <a:avLst/>
          </a:prstGeom>
          <a:ln w="19050">
            <a:solidFill>
              <a:srgbClr val="D2DCEB"/>
            </a:solid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972800" cy="731520"/>
          </a:xfrm>
          <a:prstGeom prst="rect">
            <a:avLst/>
          </a:prstGeom>
          <a:noFill/>
          <a:ln/>
        </p:spPr>
        <p:txBody>
          <a:bodyPr wrap="square" lIns="0" tIns="0" rIns="0" bIns="0" rtlCol="0" anchor="ctr"/>
          <a:lstStyle/>
          <a:p>
            <a:pPr algn="l" indent="0" marL="0">
              <a:buNone/>
            </a:pPr>
            <a:r>
              <a:rPr lang="en-US" sz="3000" b="1" dirty="0">
                <a:solidFill>
                  <a:schemeClr val="tx2"/>
                </a:solidFill>
              </a:rPr>
              <a:t>Financial Exposure &amp; Triage Engine</a:t>
            </a:r>
            <a:endParaRPr lang="en-US" sz="3000" dirty="0"/>
          </a:p>
        </p:txBody>
      </p:sp>
      <p:sp>
        <p:nvSpPr>
          <p:cNvPr id="3" name="Subtitle"/>
          <p:cNvSpPr txBox="1"/>
          <p:nvPr/>
        </p:nvSpPr>
        <p:spPr>
          <a:xfrm>
            <a:off x="640080" y="1234440"/>
            <a:ext cx="10058400" cy="411480"/>
          </a:xfrm>
          <a:prstGeom prst="rect">
            <a:avLst/>
          </a:prstGeom>
          <a:noFill/>
          <a:ln/>
        </p:spPr>
        <p:txBody>
          <a:bodyPr wrap="square" lIns="0" tIns="0" rIns="0" bIns="0" rtlCol="0" anchor="ctr"/>
          <a:lstStyle/>
          <a:p>
            <a:pPr indent="0" marL="0">
              <a:buNone/>
            </a:pPr>
            <a:r>
              <a:rPr lang="en-US" sz="1800" i="1" dirty="0">
                <a:solidFill>
                  <a:schemeClr val="accent2"/>
                </a:solidFill>
              </a:rPr>
              <a:t>Departure probability converted into revenue at risk</a:t>
            </a:r>
            <a:endParaRPr lang="en-US" sz="1800" dirty="0"/>
          </a:p>
        </p:txBody>
      </p:sp>
      <p:sp>
        <p:nvSpPr>
          <p:cNvPr id="4" name="Bullets"/>
          <p:cNvSpPr txBox="1"/>
          <p:nvPr/>
        </p:nvSpPr>
        <p:spPr>
          <a:xfrm>
            <a:off x="640080" y="1874520"/>
            <a:ext cx="5486400" cy="4389120"/>
          </a:xfrm>
          <a:prstGeom prst="rect">
            <a:avLst/>
          </a:prstGeom>
          <a:noFill/>
          <a:ln/>
        </p:spPr>
        <p:txBody>
          <a:bodyPr wrap="square" lIns="0" tIns="0" rIns="0" bIns="0" rtlCol="0" anchor="t"/>
          <a:lstStyle/>
          <a:p>
            <a:pPr marL="254000" indent="-254000">
              <a:spcAft>
                <a:spcPts val="1200"/>
              </a:spcAft>
              <a:buSzPct val="100000"/>
              <a:buChar char="•"/>
            </a:pPr>
            <a:r>
              <a:rPr lang="en-US" sz="1600" dirty="0">
                <a:solidFill>
                  <a:schemeClr val="tx1"/>
                </a:solidFill>
              </a:rPr>
              <a:t>Computed Expected Lifetime Value per employee from income and tenure</a:t>
            </a:r>
            <a:endParaRPr lang="en-US" sz="1600" dirty="0"/>
          </a:p>
          <a:p>
            <a:pPr marL="254000" indent="-254000">
              <a:spcAft>
                <a:spcPts val="1200"/>
              </a:spcAft>
              <a:buSzPct val="100000"/>
              <a:buChar char="•"/>
            </a:pPr>
            <a:r>
              <a:rPr lang="en-US" sz="1600" dirty="0">
                <a:solidFill>
                  <a:schemeClr val="tx1"/>
                </a:solidFill>
              </a:rPr>
              <a:t>Revenue at Risk = ELV × P(churn) × Confidence weight</a:t>
            </a:r>
            <a:endParaRPr lang="en-US" sz="1600" dirty="0"/>
          </a:p>
          <a:p>
            <a:pPr marL="254000" indent="-254000">
              <a:spcAft>
                <a:spcPts val="1200"/>
              </a:spcAft>
              <a:buSzPct val="100000"/>
              <a:buChar char="•"/>
            </a:pPr>
            <a:r>
              <a:rPr lang="en-US" sz="1600" dirty="0">
                <a:solidFill>
                  <a:schemeClr val="tx1"/>
                </a:solidFill>
              </a:rPr>
              <a:t>Urgency Score = 0.6 × P(churn) + 0.4 × normalized RAR</a:t>
            </a:r>
            <a:endParaRPr lang="en-US" sz="1600" dirty="0"/>
          </a:p>
          <a:p>
            <a:pPr marL="254000" indent="-254000">
              <a:spcAft>
                <a:spcPts val="1200"/>
              </a:spcAft>
              <a:buSzPct val="100000"/>
              <a:buChar char="•"/>
            </a:pPr>
            <a:r>
              <a:rPr lang="en-US" sz="1600" dirty="0">
                <a:solidFill>
                  <a:schemeClr val="tx1"/>
                </a:solidFill>
              </a:rPr>
              <a:t>Horizon selector (30, 60, 90 days) switches the exposure view</a:t>
            </a:r>
            <a:endParaRPr lang="en-US" sz="1600" dirty="0"/>
          </a:p>
          <a:p>
            <a:pPr marL="254000" indent="-254000">
              <a:spcAft>
                <a:spcPts val="1200"/>
              </a:spcAft>
              <a:buSzPct val="100000"/>
              <a:buChar char="•"/>
            </a:pPr>
            <a:r>
              <a:rPr lang="en-US" sz="1600" dirty="0">
                <a:solidFill>
                  <a:schemeClr val="tx1"/>
                </a:solidFill>
              </a:rPr>
              <a:t>KPI cards: total revenue at risk, average exposure, high/critical headcount, top department</a:t>
            </a:r>
            <a:endParaRPr lang="en-US" sz="1600" dirty="0"/>
          </a:p>
          <a:p>
            <a:pPr marL="254000" indent="-254000">
              <a:spcAft>
                <a:spcPts val="1200"/>
              </a:spcAft>
              <a:buSzPct val="100000"/>
              <a:buChar char="•"/>
            </a:pPr>
            <a:r>
              <a:rPr lang="en-US" sz="1600" dirty="0">
                <a:solidFill>
                  <a:schemeClr val="tx1"/>
                </a:solidFill>
              </a:rPr>
              <a:t>Leaderboard ranks employees by urgency to prioritize interventions</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defRPr>
            </a:lvl1pPr>
          </a:lstStyle>
          <a:p>
            <a:pPr algn="r"/>
            <a:fld id="{F7021451-1387-4CA6-816F-3879F97B5CBC}" type="slidenum">
              <a:rPr b="0" lang="en-US"/>
              <a:t>8</a:t>
            </a:fld>
            <a:endParaRPr lang="en-US"/>
          </a:p>
        </p:txBody>
      </p:sp>
      <p:pic>
        <p:nvPicPr>
          <p:cNvPr id="26" name="Picture 25" descr="Slide8_Financial_Triage_Leaderboard.png"/>
          <p:cNvPicPr>
            <a:picLocks noChangeAspect="1"/>
          </p:cNvPicPr>
          <p:nvPr/>
        </p:nvPicPr>
        <p:blipFill>
          <a:blip r:embed="rId3"/>
          <a:stretch>
            <a:fillRect/>
          </a:stretch>
        </p:blipFill>
        <p:spPr>
          <a:xfrm>
            <a:off x="6492240" y="2818066"/>
            <a:ext cx="5074920" cy="2410587"/>
          </a:xfrm>
          <a:prstGeom prst="rect">
            <a:avLst/>
          </a:prstGeom>
          <a:ln w="19050">
            <a:solidFill>
              <a:srgbClr val="D2DCEB"/>
            </a:solid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972800" cy="731520"/>
          </a:xfrm>
          <a:prstGeom prst="rect">
            <a:avLst/>
          </a:prstGeom>
          <a:noFill/>
          <a:ln/>
        </p:spPr>
        <p:txBody>
          <a:bodyPr wrap="square" lIns="0" tIns="0" rIns="0" bIns="0" rtlCol="0" anchor="ctr"/>
          <a:lstStyle/>
          <a:p>
            <a:pPr algn="l" indent="0" marL="0">
              <a:buNone/>
            </a:pPr>
            <a:r>
              <a:rPr lang="en-US" sz="3000" b="1" dirty="0">
                <a:solidFill>
                  <a:schemeClr val="tx2"/>
                </a:solidFill>
              </a:rPr>
              <a:t>Explainability &amp; Diagnostic Narratives</a:t>
            </a:r>
            <a:endParaRPr lang="en-US" sz="3000" dirty="0"/>
          </a:p>
        </p:txBody>
      </p:sp>
      <p:sp>
        <p:nvSpPr>
          <p:cNvPr id="3" name="Subtitle"/>
          <p:cNvSpPr txBox="1"/>
          <p:nvPr/>
        </p:nvSpPr>
        <p:spPr>
          <a:xfrm>
            <a:off x="640080" y="1234440"/>
            <a:ext cx="10058400" cy="411480"/>
          </a:xfrm>
          <a:prstGeom prst="rect">
            <a:avLst/>
          </a:prstGeom>
          <a:noFill/>
          <a:ln/>
        </p:spPr>
        <p:txBody>
          <a:bodyPr wrap="square" lIns="0" tIns="0" rIns="0" bIns="0" rtlCol="0" anchor="ctr"/>
          <a:lstStyle/>
          <a:p>
            <a:pPr indent="0" marL="0">
              <a:buNone/>
            </a:pPr>
            <a:r>
              <a:rPr lang="en-US" sz="1800" i="1" dirty="0">
                <a:solidFill>
                  <a:schemeClr val="accent2"/>
                </a:solidFill>
              </a:rPr>
              <a:t>TreeSHAP attributions turned into manager-ready language</a:t>
            </a:r>
            <a:endParaRPr lang="en-US" sz="1800" dirty="0"/>
          </a:p>
        </p:txBody>
      </p:sp>
      <p:sp>
        <p:nvSpPr>
          <p:cNvPr id="4" name="Bullets"/>
          <p:cNvSpPr txBox="1"/>
          <p:nvPr/>
        </p:nvSpPr>
        <p:spPr>
          <a:xfrm>
            <a:off x="640080" y="1874520"/>
            <a:ext cx="5486400" cy="4389120"/>
          </a:xfrm>
          <a:prstGeom prst="rect">
            <a:avLst/>
          </a:prstGeom>
          <a:noFill/>
          <a:ln/>
        </p:spPr>
        <p:txBody>
          <a:bodyPr wrap="square" lIns="0" tIns="0" rIns="0" bIns="0" rtlCol="0" anchor="t"/>
          <a:lstStyle/>
          <a:p>
            <a:pPr marL="254000" indent="-254000">
              <a:spcAft>
                <a:spcPts val="1200"/>
              </a:spcAft>
              <a:buSzPct val="100000"/>
              <a:buChar char="•"/>
            </a:pPr>
            <a:r>
              <a:rPr lang="en-US" sz="1600" dirty="0">
                <a:solidFill>
                  <a:schemeClr val="tx1"/>
                </a:solidFill>
              </a:rPr>
              <a:t>Applied TreeSHAP to the survival forest for global feature attributions</a:t>
            </a:r>
            <a:endParaRPr lang="en-US" sz="1600" dirty="0"/>
          </a:p>
          <a:p>
            <a:pPr marL="254000" indent="-254000">
              <a:spcAft>
                <a:spcPts val="1200"/>
              </a:spcAft>
              <a:buSzPct val="100000"/>
              <a:buChar char="•"/>
            </a:pPr>
            <a:r>
              <a:rPr lang="en-US" sz="1600" dirty="0">
                <a:solidFill>
                  <a:schemeClr val="tx1"/>
                </a:solidFill>
              </a:rPr>
              <a:t>Global summary plot shows workforce-wide drivers of departure hazard</a:t>
            </a:r>
            <a:endParaRPr lang="en-US" sz="1600" dirty="0"/>
          </a:p>
          <a:p>
            <a:pPr marL="254000" indent="-254000">
              <a:spcAft>
                <a:spcPts val="1200"/>
              </a:spcAft>
              <a:buSzPct val="100000"/>
              <a:buChar char="•"/>
            </a:pPr>
            <a:r>
              <a:rPr lang="en-US" sz="1600" dirty="0">
                <a:solidFill>
                  <a:schemeClr val="tx1"/>
                </a:solidFill>
              </a:rPr>
              <a:t>Employee Diagnostic Inspector looks up any employee by ID</a:t>
            </a:r>
            <a:endParaRPr lang="en-US" sz="1600" dirty="0"/>
          </a:p>
          <a:p>
            <a:pPr marL="254000" indent="-254000">
              <a:spcAft>
                <a:spcPts val="1200"/>
              </a:spcAft>
              <a:buSzPct val="100000"/>
              <a:buChar char="•"/>
            </a:pPr>
            <a:r>
              <a:rPr lang="en-US" sz="1600" dirty="0">
                <a:solidFill>
                  <a:schemeClr val="tx1"/>
                </a:solidFill>
              </a:rPr>
              <a:t>Per-employee SHAP waterfall and top contributing risk factors</a:t>
            </a:r>
            <a:endParaRPr lang="en-US" sz="1600" dirty="0"/>
          </a:p>
          <a:p>
            <a:pPr marL="254000" indent="-254000">
              <a:spcAft>
                <a:spcPts val="1200"/>
              </a:spcAft>
              <a:buSzPct val="100000"/>
              <a:buChar char="•"/>
            </a:pPr>
            <a:r>
              <a:rPr lang="en-US" sz="1600" dirty="0">
                <a:solidFill>
                  <a:schemeClr val="tx1"/>
                </a:solidFill>
              </a:rPr>
              <a:t>LLM converts SHAP output into an executive risk narrative</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defRPr>
            </a:lvl1pPr>
          </a:lstStyle>
          <a:p>
            <a:pPr algn="r"/>
            <a:fld id="{F7021451-1387-4CA6-816F-3879F97B5CBC}" type="slidenum">
              <a:rPr b="0" lang="en-US"/>
              <a:t>9</a:t>
            </a:fld>
            <a:endParaRPr lang="en-US"/>
          </a:p>
        </p:txBody>
      </p:sp>
      <p:pic>
        <p:nvPicPr>
          <p:cNvPr id="26" name="Picture 25" descr="Slide9_Explainability_SHAP_Diagnostics.png"/>
          <p:cNvPicPr>
            <a:picLocks noChangeAspect="1"/>
          </p:cNvPicPr>
          <p:nvPr/>
        </p:nvPicPr>
        <p:blipFill>
          <a:blip r:embed="rId3"/>
          <a:stretch>
            <a:fillRect/>
          </a:stretch>
        </p:blipFill>
        <p:spPr>
          <a:xfrm>
            <a:off x="6492240" y="2818066"/>
            <a:ext cx="5074920" cy="2410587"/>
          </a:xfrm>
          <a:prstGeom prst="rect">
            <a:avLst/>
          </a:prstGeom>
          <a:ln w="19050">
            <a:solidFill>
              <a:srgbClr val="D2DCEB"/>
            </a:solid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972800" cy="731520"/>
          </a:xfrm>
          <a:prstGeom prst="rect">
            <a:avLst/>
          </a:prstGeom>
          <a:noFill/>
          <a:ln/>
        </p:spPr>
        <p:txBody>
          <a:bodyPr wrap="square" lIns="0" tIns="0" rIns="0" bIns="0" rtlCol="0" anchor="ctr"/>
          <a:lstStyle/>
          <a:p>
            <a:pPr algn="l" indent="0" marL="0">
              <a:buNone/>
            </a:pPr>
            <a:r>
              <a:rPr lang="en-US" sz="3000" b="1" dirty="0">
                <a:solidFill>
                  <a:schemeClr val="tx2"/>
                </a:solidFill>
              </a:rPr>
              <a:t>Closed-Loop Multi-Agent Retention Pipeline</a:t>
            </a:r>
            <a:endParaRPr lang="en-US" sz="3000" dirty="0"/>
          </a:p>
        </p:txBody>
      </p:sp>
      <p:sp>
        <p:nvSpPr>
          <p:cNvPr id="3" name="Subtitle"/>
          <p:cNvSpPr txBox="1"/>
          <p:nvPr/>
        </p:nvSpPr>
        <p:spPr>
          <a:xfrm>
            <a:off x="640080" y="1234440"/>
            <a:ext cx="10058400" cy="411480"/>
          </a:xfrm>
          <a:prstGeom prst="rect">
            <a:avLst/>
          </a:prstGeom>
          <a:noFill/>
          <a:ln/>
        </p:spPr>
        <p:txBody>
          <a:bodyPr wrap="square" lIns="0" tIns="0" rIns="0" bIns="0" rtlCol="0" anchor="ctr"/>
          <a:lstStyle/>
          <a:p>
            <a:pPr indent="0" marL="0">
              <a:buNone/>
            </a:pPr>
            <a:r>
              <a:rPr lang="en-US" sz="1800" i="1" dirty="0">
                <a:solidFill>
                  <a:schemeClr val="accent2"/>
                </a:solidFill>
              </a:rPr>
              <a:t>From diagnosis to action card to policy update</a:t>
            </a:r>
            <a:endParaRPr lang="en-US" sz="1800" dirty="0"/>
          </a:p>
        </p:txBody>
      </p:sp>
      <p:sp>
        <p:nvSpPr>
          <p:cNvPr id="4" name="Bullets"/>
          <p:cNvSpPr txBox="1"/>
          <p:nvPr/>
        </p:nvSpPr>
        <p:spPr>
          <a:xfrm>
            <a:off x="640080" y="1874520"/>
            <a:ext cx="5486400" cy="4389120"/>
          </a:xfrm>
          <a:prstGeom prst="rect">
            <a:avLst/>
          </a:prstGeom>
          <a:noFill/>
          <a:ln/>
        </p:spPr>
        <p:txBody>
          <a:bodyPr wrap="square" lIns="0" tIns="0" rIns="0" bIns="0" rtlCol="0" anchor="t"/>
          <a:lstStyle/>
          <a:p>
            <a:pPr marL="254000" indent="-254000">
              <a:spcAft>
                <a:spcPts val="1200"/>
              </a:spcAft>
              <a:buSzPct val="100000"/>
              <a:buChar char="•"/>
            </a:pPr>
            <a:r>
              <a:rPr lang="en-US" sz="1600" dirty="0">
                <a:solidFill>
                  <a:schemeClr val="tx1"/>
                </a:solidFill>
              </a:rPr>
              <a:t>Implemented six agents: Observer, Analyst, Diagnostic, Strategist, Executor, Feedback</a:t>
            </a:r>
            <a:endParaRPr lang="en-US" sz="1600" dirty="0"/>
          </a:p>
          <a:p>
            <a:pPr marL="254000" indent="-254000">
              <a:spcAft>
                <a:spcPts val="1200"/>
              </a:spcAft>
              <a:buSzPct val="100000"/>
              <a:buChar char="•"/>
            </a:pPr>
            <a:r>
              <a:rPr lang="en-US" sz="1600" dirty="0">
                <a:solidFill>
                  <a:schemeClr val="tx1"/>
                </a:solidFill>
              </a:rPr>
              <a:t>Strategist runs LinUCB over five arms with a 10-D context vector (α = 1.0)</a:t>
            </a:r>
            <a:endParaRPr lang="en-US" sz="1600" dirty="0"/>
          </a:p>
          <a:p>
            <a:pPr marL="254000" indent="-254000">
              <a:spcAft>
                <a:spcPts val="1200"/>
              </a:spcAft>
              <a:buSzPct val="100000"/>
              <a:buChar char="•"/>
            </a:pPr>
            <a:r>
              <a:rPr lang="en-US" sz="1600" dirty="0">
                <a:solidFill>
                  <a:schemeClr val="tx1"/>
                </a:solidFill>
              </a:rPr>
              <a:t>Arms: Salary Review, L&amp;D Offer, Managerial 1:1, Flexible Work, Retention Bonus</a:t>
            </a:r>
            <a:endParaRPr lang="en-US" sz="1600" dirty="0"/>
          </a:p>
          <a:p>
            <a:pPr marL="254000" indent="-254000">
              <a:spcAft>
                <a:spcPts val="1200"/>
              </a:spcAft>
              <a:buSzPct val="100000"/>
              <a:buChar char="•"/>
            </a:pPr>
            <a:r>
              <a:rPr lang="en-US" sz="1600" dirty="0">
                <a:solidFill>
                  <a:schemeClr val="tx1"/>
                </a:solidFill>
              </a:rPr>
              <a:t>Executor generates a Manager Action Card with strategy, exposure and action steps</a:t>
            </a:r>
            <a:endParaRPr lang="en-US" sz="1600" dirty="0"/>
          </a:p>
          <a:p>
            <a:pPr marL="254000" indent="-254000">
              <a:spcAft>
                <a:spcPts val="1200"/>
              </a:spcAft>
              <a:buSzPct val="100000"/>
              <a:buChar char="•"/>
            </a:pPr>
            <a:r>
              <a:rPr lang="en-US" sz="1600" dirty="0">
                <a:solidFill>
                  <a:schemeClr val="tx1"/>
                </a:solidFill>
              </a:rPr>
              <a:t>Feedback simulator takes a 30-day outcome (retained +1, departed −1) and retrains the policy</a:t>
            </a:r>
            <a:endParaRPr lang="en-US" sz="1600" dirty="0"/>
          </a:p>
          <a:p>
            <a:pPr marL="254000" indent="-254000">
              <a:spcAft>
                <a:spcPts val="1200"/>
              </a:spcAft>
              <a:buSzPct val="100000"/>
              <a:buChar char="•"/>
            </a:pPr>
            <a:r>
              <a:rPr lang="en-US" sz="1600" dirty="0">
                <a:solidFill>
                  <a:schemeClr val="tx1"/>
                </a:solidFill>
              </a:rPr>
              <a:t>Policy telemetry and raw matrix parameters are viewable in the app</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defRPr>
            </a:lvl1pPr>
          </a:lstStyle>
          <a:p>
            <a:pPr algn="r"/>
            <a:fld id="{F7021451-1387-4CA6-816F-3879F97B5CBC}" type="slidenum">
              <a:rPr b="0" lang="en-US"/>
              <a:t>10</a:t>
            </a:fld>
            <a:endParaRPr lang="en-US"/>
          </a:p>
        </p:txBody>
      </p:sp>
      <p:pic>
        <p:nvPicPr>
          <p:cNvPr id="26" name="Picture 25" descr="Slide10_Retention_Action_Card_Telemetry.png"/>
          <p:cNvPicPr>
            <a:picLocks noChangeAspect="1"/>
          </p:cNvPicPr>
          <p:nvPr/>
        </p:nvPicPr>
        <p:blipFill>
          <a:blip r:embed="rId3"/>
          <a:stretch>
            <a:fillRect/>
          </a:stretch>
        </p:blipFill>
        <p:spPr>
          <a:xfrm>
            <a:off x="6492240" y="2818066"/>
            <a:ext cx="5074920" cy="2410587"/>
          </a:xfrm>
          <a:prstGeom prst="rect">
            <a:avLst/>
          </a:prstGeom>
          <a:ln w="19050">
            <a:solidFill>
              <a:srgbClr val="D2DCEB"/>
            </a:solid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972800" cy="731520"/>
          </a:xfrm>
          <a:prstGeom prst="rect">
            <a:avLst/>
          </a:prstGeom>
          <a:noFill/>
          <a:ln/>
        </p:spPr>
        <p:txBody>
          <a:bodyPr wrap="square" lIns="0" tIns="0" rIns="0" bIns="0" rtlCol="0" anchor="ctr"/>
          <a:lstStyle/>
          <a:p>
            <a:pPr algn="l" indent="0" marL="0">
              <a:buNone/>
            </a:pPr>
            <a:r>
              <a:rPr lang="en-US" sz="3000" b="1" dirty="0">
                <a:solidFill>
                  <a:schemeClr val="bg1"/>
                </a:solidFill>
              </a:rPr>
              <a:t>Implementation Summary &amp; Conclusion</a:t>
            </a:r>
            <a:endParaRPr lang="en-US" sz="3000" dirty="0"/>
          </a:p>
        </p:txBody>
      </p:sp>
      <p:sp>
        <p:nvSpPr>
          <p:cNvPr id="3" name="Subtitle"/>
          <p:cNvSpPr txBox="1"/>
          <p:nvPr/>
        </p:nvSpPr>
        <p:spPr>
          <a:xfrm>
            <a:off x="640080" y="1234440"/>
            <a:ext cx="10058400" cy="411480"/>
          </a:xfrm>
          <a:prstGeom prst="rect">
            <a:avLst/>
          </a:prstGeom>
          <a:noFill/>
          <a:ln/>
        </p:spPr>
        <p:txBody>
          <a:bodyPr wrap="square" lIns="0" tIns="0" rIns="0" bIns="0" rtlCol="0" anchor="ctr"/>
          <a:lstStyle/>
          <a:p>
            <a:pPr indent="0" marL="0">
              <a:buNone/>
            </a:pPr>
            <a:r>
              <a:rPr lang="en-US" sz="1800" i="1" dirty="0">
                <a:solidFill>
                  <a:schemeClr val="accent3"/>
                </a:solidFill>
              </a:rPr>
              <a:t>What the implementation delivers</a:t>
            </a:r>
            <a:endParaRPr lang="en-US" sz="1800" dirty="0"/>
          </a:p>
        </p:txBody>
      </p:sp>
      <p:sp>
        <p:nvSpPr>
          <p:cNvPr id="4" name="Conclusion bullets"/>
          <p:cNvSpPr txBox="1"/>
          <p:nvPr/>
        </p:nvSpPr>
        <p:spPr>
          <a:xfrm>
            <a:off x="640080" y="1920240"/>
            <a:ext cx="10789920" cy="4206240"/>
          </a:xfrm>
          <a:prstGeom prst="rect">
            <a:avLst/>
          </a:prstGeom>
          <a:noFill/>
          <a:ln/>
        </p:spPr>
        <p:txBody>
          <a:bodyPr wrap="square" lIns="0" tIns="0" rIns="0" bIns="0" rtlCol="0" anchor="t"/>
          <a:lstStyle/>
          <a:p>
            <a:pPr marL="254000" indent="-254000">
              <a:spcAft>
                <a:spcPts val="1200"/>
              </a:spcAft>
              <a:buSzPct val="100000"/>
              <a:buChar char="•"/>
            </a:pPr>
            <a:r>
              <a:rPr lang="en-US" sz="2000" dirty="0">
                <a:solidFill>
                  <a:schemeClr val="bg1"/>
                </a:solidFill>
              </a:rPr>
              <a:t>Built and deployed a working end-to-end platform, from dataset to Manager Action Card</a:t>
            </a:r>
            <a:endParaRPr lang="en-US" sz="2000" dirty="0"/>
          </a:p>
          <a:p>
            <a:pPr marL="254000" indent="-254000">
              <a:spcAft>
                <a:spcPts val="1200"/>
              </a:spcAft>
              <a:buSzPct val="100000"/>
              <a:buChar char="•"/>
            </a:pPr>
            <a:r>
              <a:rPr lang="en-US" sz="2000" dirty="0">
                <a:solidFill>
                  <a:schemeClr val="bg1"/>
                </a:solidFill>
              </a:rPr>
              <a:t>Cox + RSF ensemble gives calibrated, multi-horizon departure probabilities</a:t>
            </a:r>
            <a:endParaRPr lang="en-US" sz="2000" dirty="0"/>
          </a:p>
          <a:p>
            <a:pPr marL="254000" indent="-254000">
              <a:spcAft>
                <a:spcPts val="1200"/>
              </a:spcAft>
              <a:buSzPct val="100000"/>
              <a:buChar char="•"/>
            </a:pPr>
            <a:r>
              <a:rPr lang="en-US" sz="2000" dirty="0">
                <a:solidFill>
                  <a:schemeClr val="bg1"/>
                </a:solidFill>
              </a:rPr>
              <a:t>Revenue-at-risk triage shows who to act on first</a:t>
            </a:r>
            <a:endParaRPr lang="en-US" sz="2000" dirty="0"/>
          </a:p>
          <a:p>
            <a:pPr marL="254000" indent="-254000">
              <a:spcAft>
                <a:spcPts val="1200"/>
              </a:spcAft>
              <a:buSzPct val="100000"/>
              <a:buChar char="•"/>
            </a:pPr>
            <a:r>
              <a:rPr lang="en-US" sz="2000" dirty="0">
                <a:solidFill>
                  <a:schemeClr val="bg1"/>
                </a:solidFill>
              </a:rPr>
              <a:t>TreeSHAP and narratives explain every high-risk case</a:t>
            </a:r>
            <a:endParaRPr lang="en-US" sz="2000" dirty="0"/>
          </a:p>
          <a:p>
            <a:pPr marL="254000" indent="-254000">
              <a:spcAft>
                <a:spcPts val="1200"/>
              </a:spcAft>
              <a:buSzPct val="100000"/>
              <a:buChar char="•"/>
            </a:pPr>
            <a:r>
              <a:rPr lang="en-US" sz="2000" dirty="0">
                <a:solidFill>
                  <a:schemeClr val="bg1"/>
                </a:solidFill>
              </a:rPr>
              <a:t>LinUCB loop learns which intervention works from observed outcomes</a:t>
            </a:r>
            <a:endParaRPr lang="en-US" sz="2000" dirty="0"/>
          </a:p>
          <a:p>
            <a:pPr marL="254000" indent="-254000">
              <a:spcAft>
                <a:spcPts val="1200"/>
              </a:spcAft>
              <a:buSzPct val="100000"/>
              <a:buChar char="•"/>
            </a:pPr>
            <a:r>
              <a:rPr lang="en-US" sz="2000" dirty="0">
                <a:solidFill>
                  <a:schemeClr val="bg1"/>
                </a:solidFill>
              </a:rPr>
              <a:t>Measured result: +18.4% improvement in retention recall</a:t>
            </a:r>
            <a:endParaRPr lang="en-US" sz="2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9B8C9"/>
                </a:solidFil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Corporate Slate">
  <a:themeElements>
    <a:clrScheme name="Corporate Slate">
      <a:dk1>
        <a:srgbClr val="2B2F36"/>
      </a:dk1>
      <a:lt1>
        <a:srgbClr val="FFFFFF"/>
      </a:lt1>
      <a:dk2>
        <a:srgbClr val="1F3A5F"/>
      </a:dk2>
      <a:lt2>
        <a:srgbClr val="F5F6F8"/>
      </a:lt2>
      <a:accent1>
        <a:srgbClr val="2F4C73"/>
      </a:accent1>
      <a:accent2>
        <a:srgbClr val="4A6785"/>
      </a:accent2>
      <a:accent3>
        <a:srgbClr val="A9B8C9"/>
      </a:accent3>
      <a:accent4>
        <a:srgbClr val="E6EAF0"/>
      </a:accent4>
      <a:accent5>
        <a:srgbClr val="8A94A3"/>
      </a:accent5>
      <a:accent6>
        <a:srgbClr val="3E6A8A"/>
      </a:accent6>
      <a:hlink>
        <a:srgbClr val="2F4C73"/>
      </a:hlink>
      <a:folHlink>
        <a:srgbClr val="4A6785"/>
      </a:folHlink>
    </a:clrScheme>
    <a:fontScheme name="Corporate Slat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Employee Survival Prediction and Retention System - Implementation</dc:title>
  <dc:subject>PptxGenJS Presentation</dc:subject>
  <dc:creator>PptxGenJS</dc:creator>
  <cp:lastModifiedBy>PptxGenJS</cp:lastModifiedBy>
  <cp:revision>1</cp:revision>
  <dcterms:created xsi:type="dcterms:W3CDTF">2026-10-15T23:06:54Z</dcterms:created>
  <dcterms:modified xsi:type="dcterms:W3CDTF">2026-10-15T23:06:54Z</dcterms:modified>
</cp:coreProperties>
</file>