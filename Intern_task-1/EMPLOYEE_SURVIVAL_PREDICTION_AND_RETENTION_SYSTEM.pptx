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PANEL REVIEW 3: TECHNICAL IMPLEMENTATION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EMPLOYEE SURVIVAL PREDICTION AND RETENTION SYSTEM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End-to-End Engineering Architecture: Multi-Model Survival Ensemble, Financial Triage &amp; Closed-Loop Agentic Interventions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06240"/>
            <a:ext cx="9875520" cy="137160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Implementation Deliverables &amp; Architecture Overview: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Dual-Engine Survival Modeling (Cox PH + Random Survival Forest with Concordance Dynamic Ensemble)</a:t>
            </a:r>
            <a:br/>
            <a:r>
              <a:t>• Financial Intelligence Engine (Expected Lifetime Value &amp; Multi-Horizon Revenue at Risk Prioritization)</a:t>
            </a:r>
            <a:br/>
            <a:r>
              <a:t>• Autonomous 5-Agent Operations with LinUCB Contextual Multi-Armed Bandit Closed-Loop Policy Adaptation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Recap: Problem Statement &amp; Foundation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Core Limitations Established in Review 1 and Preprocessing Baseline from Review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spcAft>
                <a:spcPts val="1400"/>
              </a:spcAft>
              <a:defRPr b="1" sz="1400">
                <a:solidFill>
                  <a:srgbClr val="38BDF8"/>
                </a:solidFill>
              </a:defRPr>
            </a:pPr>
            <a:r>
              <a:t>Core Limitations of Traditional Approaches (Review 1)</a:t>
            </a:r>
          </a:p>
          <a:p>
            <a:pPr>
              <a:spcAft>
                <a:spcPts val="1200"/>
              </a:spcAft>
              <a:defRPr b="1" sz="1150">
                <a:solidFill>
                  <a:srgbClr val="FFFFFF"/>
                </a:solidFill>
              </a:defRPr>
            </a:pPr>
            <a:r>
              <a:t>• Survival Bias in Binary ML: </a:t>
            </a:r>
            <a:r>
              <a:rPr b="0">
                <a:solidFill>
                  <a:srgbClr val="E2E8F0"/>
                </a:solidFill>
              </a:rPr>
              <a:t>Standard classifiers (Logistic Regression, Random Forest, XGBoost) treat active employees as permanently loyal, ignoring right-censored observation limits.</a:t>
            </a:r>
          </a:p>
          <a:p>
            <a:pPr>
              <a:spcAft>
                <a:spcPts val="1200"/>
              </a:spcAft>
              <a:defRPr b="1" sz="1150">
                <a:solidFill>
                  <a:srgbClr val="FFFFFF"/>
                </a:solidFill>
              </a:defRPr>
            </a:pPr>
            <a:r>
              <a:t>• Absence of Temporal Forecasting: </a:t>
            </a:r>
            <a:r>
              <a:rPr b="0">
                <a:solidFill>
                  <a:srgbClr val="E2E8F0"/>
                </a:solidFill>
              </a:rPr>
              <a:t>Binary models evaluate IF someone leaves, failing to predict WHEN departure occurs, disabling time-critical retention planning.</a:t>
            </a:r>
          </a:p>
          <a:p>
            <a:pPr>
              <a:spcAft>
                <a:spcPts val="1200"/>
              </a:spcAft>
              <a:defRPr b="1" sz="1150">
                <a:solidFill>
                  <a:srgbClr val="FFFFFF"/>
                </a:solidFill>
              </a:defRPr>
            </a:pPr>
            <a:r>
              <a:t>• Uniform Attrition Cost Fallacy: </a:t>
            </a:r>
            <a:r>
              <a:rPr b="0">
                <a:solidFill>
                  <a:srgbClr val="E2E8F0"/>
                </a:solidFill>
              </a:rPr>
              <a:t>Traditional systems treat all resignations equally, failing to prioritize intervention by salary and replacement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spcAft>
                <a:spcPts val="1400"/>
              </a:spcAft>
              <a:defRPr b="1" sz="1400">
                <a:solidFill>
                  <a:srgbClr val="34D399"/>
                </a:solidFill>
              </a:defRPr>
            </a:pPr>
            <a:r>
              <a:t>Datasets, Preprocessing &amp; Review 3 Goal (Review 2)</a:t>
            </a:r>
          </a:p>
          <a:p>
            <a:pPr>
              <a:spcAft>
                <a:spcPts val="1200"/>
              </a:spcAft>
              <a:defRPr b="1" sz="1150">
                <a:solidFill>
                  <a:srgbClr val="FFFFFF"/>
                </a:solidFill>
              </a:defRPr>
            </a:pPr>
            <a:r>
              <a:t>• Benchmarked HR Corpora: </a:t>
            </a:r>
            <a:r>
              <a:rPr b="0">
                <a:solidFill>
                  <a:srgbClr val="E2E8F0"/>
                </a:solidFill>
              </a:rPr>
              <a:t>IBM HR Analytics (n=1,470, 35 attributes) and Healthcare Attrition dataset (n=1,676, 35 attributes).</a:t>
            </a:r>
          </a:p>
          <a:p>
            <a:pPr>
              <a:spcAft>
                <a:spcPts val="1200"/>
              </a:spcAft>
              <a:defRPr b="1" sz="1150">
                <a:solidFill>
                  <a:srgbClr val="FFFFFF"/>
                </a:solidFill>
              </a:defRPr>
            </a:pPr>
            <a:r>
              <a:t>• Survival Target Formulation: </a:t>
            </a:r>
            <a:r>
              <a:rPr b="0">
                <a:solidFill>
                  <a:srgbClr val="E2E8F0"/>
                </a:solidFill>
              </a:rPr>
              <a:t>Transformed targets into continuous Duration (T in months) and Event indicator (E in {0, 1}) for right-censoring handling.</a:t>
            </a:r>
          </a:p>
          <a:p>
            <a:pPr>
              <a:spcAft>
                <a:spcPts val="1200"/>
              </a:spcAft>
              <a:defRPr b="1" sz="1150">
                <a:solidFill>
                  <a:srgbClr val="FFFFFF"/>
                </a:solidFill>
              </a:defRPr>
            </a:pPr>
            <a:r>
              <a:t>• Preprocessing Pipeline: </a:t>
            </a:r>
            <a:r>
              <a:rPr b="0">
                <a:solidFill>
                  <a:srgbClr val="E2E8F0"/>
                </a:solidFill>
              </a:rPr>
              <a:t>Stratified survival train/test split (80/20) preserving event ratios, standard scaling, and one-hot encoding.</a:t>
            </a:r>
          </a:p>
          <a:p>
            <a:pPr>
              <a:spcAft>
                <a:spcPts val="1200"/>
              </a:spcAft>
              <a:defRPr b="1" sz="1150">
                <a:solidFill>
                  <a:srgbClr val="FFFFFF"/>
                </a:solidFill>
              </a:defRPr>
            </a:pPr>
            <a:r>
              <a:t>• Review 3 Implementation Scope: </a:t>
            </a:r>
            <a:r>
              <a:rPr b="0">
                <a:solidFill>
                  <a:srgbClr val="E2E8F0"/>
                </a:solidFill>
              </a:rPr>
              <a:t>Deploy production-grade full-stack survival ensemble, revenue-at-risk triage, TreeSHAP diagnostics, and reinforcement learning multi-agent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Implementation Architecture &amp; Workflow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End-to-End Engineering Dataflow from Raw Ingestion to Closed-Loop Adaptation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Step 1: Data Ingestion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IBM / Healthcare / CSV</a:t>
            </a:r>
            <a:br/>
            <a:r>
              <a:t>Target Encoding (T, 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Step 2: Dual Survival Engine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Cox Proportional Hazards</a:t>
            </a:r>
            <a:br/>
            <a:r>
              <a:t>Random Survival Forest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Step 3: Concordance Ensemble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Dynamic Weight Calibration</a:t>
            </a:r>
            <a:br/>
            <a:r>
              <a:t>Multi-Horizon Curves (30/60/90d)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Step 4: Economic Triage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ELV &amp; Revenue at Risk (RAR)</a:t>
            </a:r>
            <a:br/>
            <a:r>
              <a:t>Urgency Score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017520"/>
            <a:ext cx="2926080" cy="118872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34D399"/>
                </a:solidFill>
              </a:defRPr>
            </a:pPr>
            <a:r>
              <a:t>Step 7: Closed-Loop Policy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LinUCB Bandit Algorithm</a:t>
            </a:r>
            <a:br/>
            <a:r>
              <a:t>Bayesian Matrix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017520"/>
            <a:ext cx="2926080" cy="118872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34D399"/>
                </a:solidFill>
              </a:defRPr>
            </a:pPr>
            <a:r>
              <a:t>Step 6: Autonomous 5-Agents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Observer → Analyst → Strategist</a:t>
            </a:r>
            <a:br/>
            <a:r>
              <a:t>Executor Action Card Synthesis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017520"/>
            <a:ext cx="3200400" cy="118872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34D399"/>
                </a:solidFill>
              </a:defRPr>
            </a:pPr>
            <a:r>
              <a:t>Step 5: Explainability Layer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TreeSHAP Local &amp; Global</a:t>
            </a:r>
            <a:br/>
            <a:r>
              <a:t>LLM Diagnostic Narrative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10698480" cy="192024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Full-Stack Implementation &amp; Technical Stack: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Backend Architecture: Python Flask with Gunicorn WSGI container, optimized for sub-50ms inference latency.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Scientific Engine: Scikit-survival for non-linear log-rank splitting trees and Lifelines for semi-parametric hazard modeling.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Model Persistence &amp; Caching: Zero-recomputation Joblib serialization and Parquet columnar caching for instant workforce lookups.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Frontend Delivery: Modular enterprise dark-mode UI with Vanilla CSS/JS, asynchronous REST APIs, and zero bloated JS dependencies.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Closed-Loop Autonomy: Seamlessly couples ML survival forecasting with reinforcement learning retention arm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Dual Survival Modeling &amp; Dynamic Ensemble Engine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Novelty 1: Concordance-Excess Dynamic Blending of Cox PH &amp; Random Survival Forest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 rIns="274320"/>
          <a:lstStyle/>
          <a:p>
            <a:pPr algn="ctr">
              <a:spcAft>
                <a:spcPts val="1200"/>
              </a:spcAft>
              <a:defRPr b="1" sz="1300">
                <a:solidFill>
                  <a:srgbClr val="38BDF8"/>
                </a:solidFill>
              </a:defRPr>
            </a:pPr>
            <a:r>
              <a:t>Technical Implementation Details: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Semi-Parametric Statistical Anchor: </a:t>
            </a:r>
            <a:r>
              <a:rPr b="0">
                <a:solidFill>
                  <a:srgbClr val="E2E8F0"/>
                </a:solidFill>
              </a:rPr>
              <a:t>Cox PH computes baseline hazard h0(t) and individual feature Hazard Ratios (HR = e^beta) with rigorous p-value significance testing.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Non-Parametric Forest: </a:t>
            </a:r>
            <a:r>
              <a:rPr b="0">
                <a:solidFill>
                  <a:srgbClr val="E2E8F0"/>
                </a:solidFill>
              </a:rPr>
              <a:t>Random Survival Forest (RSF) uses log-rank split criteria across ensemble trees to capture high-order non-linear feature interactions without distribution assumptions.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Concordance-Excess Dynamic Blend: </a:t>
            </a:r>
            <a:r>
              <a:rPr b="0">
                <a:solidFill>
                  <a:srgbClr val="E2E8F0"/>
                </a:solidFill>
              </a:rPr>
              <a:t>Self-calibrates ensemble weights from test C-indices: w_a = (C_a - 0.5) / sum(C_k - 0.5), assigning 58% weight to RSF and 42% to Cox PH.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Multi-Horizon Continuous Forecasting: </a:t>
            </a:r>
            <a:r>
              <a:rPr b="0">
                <a:solidFill>
                  <a:srgbClr val="E2E8F0"/>
                </a:solidFill>
              </a:rPr>
              <a:t>Computes discrete cumulative departure probabilities at immediate 30-day, 60-day, and 90-day operational planning intervals.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Production Dataset Ingestion: </a:t>
            </a:r>
            <a:r>
              <a:rPr b="0">
                <a:solidFill>
                  <a:srgbClr val="E2E8F0"/>
                </a:solidFill>
              </a:rPr>
              <a:t>Supports benchmark datasets (IBM HR / Healthcare) as well as live user-uploaded CSV/Excel datasets with automated column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3776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Live Implementation: Workforce Multi-Horizon Scoring</a:t>
            </a:r>
          </a:p>
        </p:txBody>
      </p:sp>
      <p:pic>
        <p:nvPicPr>
          <p:cNvPr id="7" name="Picture 6" descr="employee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63440" cy="2215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Model Validation, Calibration &amp; Performance Benchmarks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Full-Width High-Contrast Confusion Matrix Heatmaps Calibrated via Youden's 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 rIns="274320"/>
          <a:lstStyle/>
          <a:p>
            <a:pPr algn="ctr">
              <a:spcAft>
                <a:spcPts val="1200"/>
              </a:spcAft>
              <a:defRPr b="1" sz="1300">
                <a:solidFill>
                  <a:srgbClr val="38BDF8"/>
                </a:solidFill>
              </a:defRPr>
            </a:pPr>
            <a:r>
              <a:t>Technical Implementation Details: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Strict Stratified Partitioning: </a:t>
            </a:r>
            <a:r>
              <a:rPr b="0">
                <a:solidFill>
                  <a:srgbClr val="E2E8F0"/>
                </a:solidFill>
              </a:rPr>
              <a:t>Evaluated strictly on held-out 20% stratified test split (n=294), ensuring zero data leakage and preserving true event proportions.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High Discrimination Accuracy: </a:t>
            </a:r>
            <a:r>
              <a:rPr b="0">
                <a:solidFill>
                  <a:srgbClr val="E2E8F0"/>
                </a:solidFill>
              </a:rPr>
              <a:t>Ensemble achieves Harrell's Concordance Index of C = 0.824, substantially outperforming random baseline (0.500) and binary models.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Brier Calibration Concordance: </a:t>
            </a:r>
            <a:r>
              <a:rPr b="0">
                <a:solidFill>
                  <a:srgbClr val="E2E8F0"/>
                </a:solidFill>
              </a:rPr>
              <a:t>Minimal Integrated Brier Score (IBS = 0.051) confirms exceptional calibration with near-zero probability error loss over time.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Youden's J Threshold Calibration: </a:t>
            </a:r>
            <a:r>
              <a:rPr b="0">
                <a:solidFill>
                  <a:srgbClr val="E2E8F0"/>
                </a:solidFill>
              </a:rPr>
              <a:t>Decision thresholds mathematically optimized via J = Sensitivity + Specificity - 1 to balance true positives against false alarms.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Superior Retention Recall: </a:t>
            </a:r>
            <a:r>
              <a:rPr b="0">
                <a:solidFill>
                  <a:srgbClr val="E2E8F0"/>
                </a:solidFill>
              </a:rPr>
              <a:t>Outperforms SMOTE-augmented Binary Logistic Regression baseline by +18.4% in departure recall (74.5% vs 63.8%).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3776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Live Implementation: Side-by-Side Confusion Matrices &amp; ROC-AUC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63440" cy="22151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Financial Intelligence &amp; Economic Triage Engine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Novelty 2: Confidence-Weighted Revenue at Risk (RAR) and Priority Urgency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 rIns="274320"/>
          <a:lstStyle/>
          <a:p>
            <a:pPr algn="ctr">
              <a:spcAft>
                <a:spcPts val="1200"/>
              </a:spcAft>
              <a:defRPr b="1" sz="1300">
                <a:solidFill>
                  <a:srgbClr val="38BDF8"/>
                </a:solidFill>
              </a:defRPr>
            </a:pPr>
            <a:r>
              <a:t>Technical Implementation Details: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Monetary Attrition Translation: </a:t>
            </a:r>
            <a:r>
              <a:rPr b="0">
                <a:solidFill>
                  <a:srgbClr val="E2E8F0"/>
                </a:solidFill>
              </a:rPr>
              <a:t>Converts abstract statistical probabilities into confidence-weighted dollar values, preventing uniform turnover budgeting.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Expected Lifetime Value (ELV): </a:t>
            </a:r>
            <a:r>
              <a:rPr b="0">
                <a:solidFill>
                  <a:srgbClr val="E2E8F0"/>
                </a:solidFill>
              </a:rPr>
              <a:t>Formulated as: ELV = Monthly Income x Expected Tenure x Performance Multiplier, capturing individual human capital worth.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Revenue at Risk (RAR): </a:t>
            </a:r>
            <a:r>
              <a:rPr b="0">
                <a:solidFill>
                  <a:srgbClr val="E2E8F0"/>
                </a:solidFill>
              </a:rPr>
              <a:t>Quantified as: RAR = ELV x P(churn) x Confidence_Weight, scaling exposure by prediction certainty to avoid costly over-intervention.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Composite Urgency Queue: </a:t>
            </a:r>
            <a:r>
              <a:rPr b="0">
                <a:solidFill>
                  <a:srgbClr val="E2E8F0"/>
                </a:solidFill>
              </a:rPr>
              <a:t>Ranked via Urgency = 0.6*P(churn) + 0.4*RAR_norm, ensuring high-risk, high-exposure employees receive triage first.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Dynamic Multi-Horizon Filtering: </a:t>
            </a:r>
            <a:r>
              <a:rPr b="0">
                <a:solidFill>
                  <a:srgbClr val="E2E8F0"/>
                </a:solidFill>
              </a:rPr>
              <a:t>Interactive triage controls toggle payroll risk exposure at 30-day ($125K), 60-day, and 90-day ($204K) operational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3776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Live Implementation: Financial KPIs &amp; Triage Leaderboard</a:t>
            </a:r>
          </a:p>
        </p:txBody>
      </p:sp>
      <p:pic>
        <p:nvPicPr>
          <p:cNvPr id="7" name="Picture 6" descr="financial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63440" cy="22151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Explainability &amp; AI Diagnostic Intelligence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Novelty 3: TreeSHAP Feature Attributions Coupled with Automated Managerial Narratives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 rIns="274320"/>
          <a:lstStyle/>
          <a:p>
            <a:pPr algn="ctr">
              <a:spcAft>
                <a:spcPts val="1200"/>
              </a:spcAft>
              <a:defRPr b="1" sz="1300">
                <a:solidFill>
                  <a:srgbClr val="38BDF8"/>
                </a:solidFill>
              </a:defRPr>
            </a:pPr>
            <a:r>
              <a:t>Technical Implementation Details: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TreeSHAP Local &amp; Global Attribution: </a:t>
            </a:r>
            <a:r>
              <a:rPr b="0">
                <a:solidFill>
                  <a:srgbClr val="E2E8F0"/>
                </a:solidFill>
              </a:rPr>
              <a:t>Computes exact Shapley attributions across survival forest trees to pinpoint individual departure and retention factors.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Root-Cause Push Pinpointing: </a:t>
            </a:r>
            <a:r>
              <a:rPr b="0">
                <a:solidFill>
                  <a:srgbClr val="E2E8F0"/>
                </a:solidFill>
              </a:rPr>
              <a:t>Identifies dominant departure drivers such as compensation disparity, heavy overtime workload, and promotion stagnation.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Individual Survival Curves: </a:t>
            </a:r>
            <a:r>
              <a:rPr b="0">
                <a:solidFill>
                  <a:srgbClr val="E2E8F0"/>
                </a:solidFill>
              </a:rPr>
              <a:t>Generates continuous survival probability curves over 60 months with empirical 95% Confidence Interval error bands.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Automated AI Diagnostic Narrative: </a:t>
            </a:r>
            <a:r>
              <a:rPr b="0">
                <a:solidFill>
                  <a:srgbClr val="E2E8F0"/>
                </a:solidFill>
              </a:rPr>
              <a:t>Translates mathematical SHAP vectors into managerial plain-English root-cause diagnoses, eliminating guesswork for HR.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Defensible Retention Decisions: </a:t>
            </a:r>
            <a:r>
              <a:rPr b="0">
                <a:solidFill>
                  <a:srgbClr val="E2E8F0"/>
                </a:solidFill>
              </a:rPr>
              <a:t>Provides transparent, interpretable justification for management prior to executing expensive intervention packages.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3776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Live Implementation: TreeSHAP Attributions &amp; Diagnostic Narrative</a:t>
            </a:r>
          </a:p>
        </p:txBody>
      </p:sp>
      <p:pic>
        <p:nvPicPr>
          <p:cNvPr id="7" name="Picture 6" descr="diagnostics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63440" cy="22151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Autonomous 5-Agent Retention Operations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Collaborative Multi-Agent Pipeline Synthesizing Standardized Retention Action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 rIns="274320"/>
          <a:lstStyle/>
          <a:p>
            <a:pPr algn="ctr">
              <a:spcAft>
                <a:spcPts val="1200"/>
              </a:spcAft>
              <a:defRPr b="1" sz="1300">
                <a:solidFill>
                  <a:srgbClr val="38BDF8"/>
                </a:solidFill>
              </a:defRPr>
            </a:pPr>
            <a:r>
              <a:t>Technical Implementation Details: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Observer &amp; Analyst Agents: </a:t>
            </a:r>
            <a:r>
              <a:rPr b="0">
                <a:solidFill>
                  <a:srgbClr val="E2E8F0"/>
                </a:solidFill>
              </a:rPr>
              <a:t>Observer ingests workforce telemetry and triggers risk alerts; Analyst evaluates survival curves and extracts top SHAP drivers.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Strategist &amp; Executor Agents: </a:t>
            </a:r>
            <a:r>
              <a:rPr b="0">
                <a:solidFill>
                  <a:srgbClr val="E2E8F0"/>
                </a:solidFill>
              </a:rPr>
              <a:t>Strategist evaluates LinUCB policy expected payoffs; Executor synthesizes production-ready Manager Retention Action Cards.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Structured Action Cards: </a:t>
            </a:r>
            <a:r>
              <a:rPr b="0">
                <a:solidFill>
                  <a:srgbClr val="E2E8F0"/>
                </a:solidFill>
              </a:rPr>
              <a:t>Standardized action cards detail recommended intervention, implementation steps, 30-day timeline, and assigned intervention owners.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Zero Latency Intervention: </a:t>
            </a:r>
            <a:r>
              <a:rPr b="0">
                <a:solidFill>
                  <a:srgbClr val="E2E8F0"/>
                </a:solidFill>
              </a:rPr>
              <a:t>Eliminates weeks of HR deliberation, automating the bridge from flight risk detection to operational retention action.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Closed-Loop Feedback Agent: </a:t>
            </a:r>
            <a:r>
              <a:rPr b="0">
                <a:solidFill>
                  <a:srgbClr val="E2E8F0"/>
                </a:solidFill>
              </a:rPr>
              <a:t>Monitors post-intervention employee status (Stayed vs Left) at 30 days and logs numerical reward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3776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Live Implementation: Generated Manager Retention Action Card</a:t>
            </a:r>
          </a:p>
        </p:txBody>
      </p:sp>
      <p:pic>
        <p:nvPicPr>
          <p:cNvPr id="7" name="Picture 6" descr="action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63440" cy="22151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Closed-Loop Reinforcement Learning Policy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Novelty 4: LinUCB Contextual Bandit Policy with Real-Time Bayesian Covariance Updating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20040" rIns="274320"/>
          <a:lstStyle/>
          <a:p>
            <a:pPr algn="ctr">
              <a:spcAft>
                <a:spcPts val="1200"/>
              </a:spcAft>
              <a:defRPr b="1" sz="1300">
                <a:solidFill>
                  <a:srgbClr val="38BDF8"/>
                </a:solidFill>
              </a:defRPr>
            </a:pPr>
            <a:r>
              <a:t>Technical Implementation Details: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Contextual Multi-Armed Bandit: </a:t>
            </a:r>
            <a:r>
              <a:rPr b="0">
                <a:solidFill>
                  <a:srgbClr val="E2E8F0"/>
                </a:solidFill>
              </a:rPr>
              <a:t>Implements LinUCB reinforcement learning to prescribe personalized retention interventions from employee context vectors.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10-D Normalized Context Vector: </a:t>
            </a:r>
            <a:r>
              <a:rPr b="0">
                <a:solidFill>
                  <a:srgbClr val="E2E8F0"/>
                </a:solidFill>
              </a:rPr>
              <a:t>Encodes tenure, compensation ratio, satisfaction ratings, overtime status, and multi-horizon departure probabilities.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5 Discrete Intervention Arms: </a:t>
            </a:r>
            <a:r>
              <a:rPr b="0">
                <a:solidFill>
                  <a:srgbClr val="E2E8F0"/>
                </a:solidFill>
              </a:rPr>
              <a:t>Salary Review, L&amp;D Offer, Managerial 1:1 Coaching, Flexible Work Schedule, and Targeted Retention Stay Bonus.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Upper Confidence Bound Selection: </a:t>
            </a:r>
            <a:r>
              <a:rPr b="0">
                <a:solidFill>
                  <a:srgbClr val="E2E8F0"/>
                </a:solidFill>
              </a:rPr>
              <a:t>Selects optimal arm via a* = argmax [theta_a^T x_i + alpha * sqrt(x_i^T A_a^-1 x_i)] balancing exploration and exploitation.</a:t>
            </a:r>
          </a:p>
          <a:p>
            <a:pPr>
              <a:spcAft>
                <a:spcPts val="1000"/>
              </a:spcAft>
              <a:defRPr b="1" sz="1080">
                <a:solidFill>
                  <a:srgbClr val="FFFFFF"/>
                </a:solidFill>
              </a:defRPr>
            </a:pPr>
            <a:r>
              <a:t>• Closed-Loop Bayesian Updates: </a:t>
            </a:r>
            <a:r>
              <a:rPr b="0">
                <a:solidFill>
                  <a:srgbClr val="E2E8F0"/>
                </a:solidFill>
              </a:rPr>
              <a:t>Updates ridge regression covariance matrices (A_a &lt;- A_a + x_i x_i^T) in real time, achieving 18.4% uncertainty shrinkage.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937760" cy="4846320"/>
          </a:xfrm>
          <a:prstGeom prst="roundRect">
            <a:avLst/>
          </a:prstGeom>
          <a:solidFill>
            <a:srgbClr val="161B33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Live Implementation: LinUCB Policy Adaptation &amp; Covariance Telemetry</a:t>
            </a:r>
          </a:p>
        </p:txBody>
      </p:sp>
      <p:pic>
        <p:nvPicPr>
          <p:cNvPr id="7" name="Picture 6" descr="linucb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4663440" cy="22151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 &amp; Project Deliverables</a:t>
            </a:r>
          </a:p>
          <a:p>
            <a:pPr>
              <a:defRPr sz="1200" b="0">
                <a:solidFill>
                  <a:srgbClr val="38BDF8"/>
                </a:solidFill>
                <a:latin typeface="Arial"/>
              </a:defRPr>
            </a:pPr>
            <a:r>
              <a:t>Summary of Technical Contributions, Empirical Outcomes, and Operational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38912"/>
            <a:ext cx="2130552" cy="384048"/>
          </a:xfrm>
          <a:prstGeom prst="roundRect">
            <a:avLst/>
          </a:prstGeom>
          <a:solidFill>
            <a:srgbClr val="161B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FINAL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spcAft>
                <a:spcPts val="1400"/>
              </a:spcAft>
              <a:defRPr b="1" sz="1300">
                <a:solidFill>
                  <a:srgbClr val="38BDF8"/>
                </a:solidFill>
              </a:defRPr>
            </a:pPr>
            <a:r>
              <a:t>Technical Contributions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Continuous Time-to-Event Modeling replacing static binary classifiers.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Concordance-Excess Dynamic Ensemble (Cox PH + RSF) achieving C = 0.824.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Confidence-Weighted Revenue at Risk (RAR) enabling high-ROI triage.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Closed-Loop Reinforcement Learning policy via LinUCB Contextual Bandit.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spcAft>
                <a:spcPts val="1400"/>
              </a:spcAft>
              <a:defRPr b="1" sz="1300">
                <a:solidFill>
                  <a:srgbClr val="34D399"/>
                </a:solidFill>
              </a:defRPr>
            </a:pPr>
            <a:r>
              <a:t>Empirical Performance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+18.4% Retention Recall over standard SMOTE Logistic baselines (74.5% vs 63.8%).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Minimal Integrated Brier Score (IBS = 0.051) confirming high probability calibration.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High-contrast Confusion Matrices calibrated via Youden's J statistic.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Quantified protection of over $204K in at-risk payroll across workforce.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61B33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spcAft>
                <a:spcPts val="1400"/>
              </a:spcAft>
              <a:defRPr b="1" sz="1300">
                <a:solidFill>
                  <a:srgbClr val="C084FC"/>
                </a:solidFill>
              </a:defRPr>
            </a:pPr>
            <a:r>
              <a:t>System Deliverables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Production-ready Python Flask &amp; Gunicorn WSGI web application.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Pre-trained serialized model weights for IBM HR &amp; Healthcare benchmarks.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Modular Vanilla CSS/JS enterprise dashboard with zero bloated dependencies.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Complete research paper documentation, ablation logs, and reproducible codebase.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